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72" r:id="rId4"/>
    <p:sldId id="262" r:id="rId5"/>
    <p:sldId id="263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90" r:id="rId31"/>
    <p:sldId id="288" r:id="rId32"/>
    <p:sldId id="291" r:id="rId33"/>
    <p:sldId id="289" r:id="rId34"/>
    <p:sldId id="292" r:id="rId35"/>
    <p:sldId id="29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747"/>
    <a:srgbClr val="FFD966"/>
    <a:srgbClr val="4472C4"/>
    <a:srgbClr val="223C6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30" autoAdjust="0"/>
    <p:restoredTop sz="94660"/>
  </p:normalViewPr>
  <p:slideViewPr>
    <p:cSldViewPr snapToGrid="0">
      <p:cViewPr>
        <p:scale>
          <a:sx n="50" d="100"/>
          <a:sy n="50" d="100"/>
        </p:scale>
        <p:origin x="1282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18CA1-CDE1-A1E3-557E-4FADFC6C1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C293F-12DF-F47E-568B-F0404AA6A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0B11C-B386-CC3E-7419-752E9C708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AA9D7-2DDA-4084-81E6-77EDDD6414E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14CAB-49B6-F0CB-30FC-0876A1E8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07180-7D26-26A5-1738-5124630EA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A8B0-522E-4B6B-835B-BD0454792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975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B50A3-7205-E3CA-90DD-744B023F0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87B78-A8A5-CE88-8F21-B669464F2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38B3A-50E6-0C6E-DFD8-C4A5ECD54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AA9D7-2DDA-4084-81E6-77EDDD6414E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2BF2-9624-977E-0509-FE8F0D0B1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EF7F4-4421-CAF4-36AE-84725586A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A8B0-522E-4B6B-835B-BD0454792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733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37AE-A979-EA8B-2BC9-7F2B18727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38FD7-AE06-DBA0-AE22-E09630118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D42DF-0DF8-5174-C614-D66B14CC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AA9D7-2DDA-4084-81E6-77EDDD6414E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C06EF-D251-0FC5-B1E6-EA4B23419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DE21E-F798-E92E-A1CA-43FA0DFA8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A8B0-522E-4B6B-835B-BD0454792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521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7499E-D1AD-C59F-9140-5C987C49C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FA725-2CCC-BF80-C86C-B57BB54B9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A33A4-EE56-CD17-B050-E72623FC2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0564E-2FCE-FF07-F200-7F28661AD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AA9D7-2DDA-4084-81E6-77EDDD6414E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FC98D-1788-3D75-172A-CC188BA2C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E6F1A-EDE1-9BAC-E68E-2FCE5676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A8B0-522E-4B6B-835B-BD0454792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961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89CF7-1551-950E-7DA1-FE4ED4AF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7B966-9749-0250-CFA2-F9E94AFBC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536BBF-C97F-F18F-73F4-329E13585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B82620-19AC-036E-F57A-5C09FB60E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202D79-886E-5147-98DA-428AC9725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C81684-FB93-820B-45AD-623381E41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AA9D7-2DDA-4084-81E6-77EDDD6414E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52441D-3459-5CD8-8470-29A277FA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28C78-5250-DDFF-A501-5D3A0AAAA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A8B0-522E-4B6B-835B-BD0454792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123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9D22-E7A2-1EBD-75B9-104F6B4FB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6AE5A-D6F5-3106-C3D0-0FC98D3E7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AA9D7-2DDA-4084-81E6-77EDDD6414E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EFEEE5-BDEB-952E-6743-0C64F2A7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5E19E-21FC-CF55-0895-D397964F2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A8B0-522E-4B6B-835B-BD0454792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08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4C8D62-3DC0-A538-A6B6-711319A3D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AA9D7-2DDA-4084-81E6-77EDDD6414E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F79473-10A2-A65B-FA62-29E7E80E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E9BB1-CFA6-EE46-70F7-C5B550CE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A8B0-522E-4B6B-835B-BD0454792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75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C883-1ADF-F7FF-DCBE-FB4395A6C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D1D91-F295-786A-79A7-108F42446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0BFC8-7A2E-0E01-1F17-64D2F1066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E23A9-4648-7533-70FD-D67BF62F2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AA9D7-2DDA-4084-81E6-77EDDD6414E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9839B-5E69-5B28-0F99-DACE3331D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F34D6-131F-D50B-7109-2B4A42F3D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A8B0-522E-4B6B-835B-BD0454792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76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C9FFA-5E8C-3EE8-4CE5-DFCB24892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9D8C64-8E85-F043-3D78-ED58C91F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CA4FE0-9DE6-E8EA-7857-FDB32CDEB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052BE-16EA-2FE1-0347-D7714AC9B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AA9D7-2DDA-4084-81E6-77EDDD6414E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236D6-39F4-0E94-7D4F-B51C4677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F26CE-F5C2-517F-D186-2CF81A6D0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A8B0-522E-4B6B-835B-BD0454792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280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3B36-32C5-EB15-EB42-A65605A64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66C6F-189D-C4B5-D8B3-0DA6AD8AE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38209-0D6C-D4AD-BF40-3B972C1A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AA9D7-2DDA-4084-81E6-77EDDD6414E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BB3E5-F155-9392-FD20-CF652AEEB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40F2B-28D4-B2F7-C14C-A6F3BD64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A8B0-522E-4B6B-835B-BD0454792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36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3D26F4-56CF-45F0-ECAD-E3757C63A2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8DAAAE-0A7C-B969-35CF-F0BB9A456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2632A-CFEE-51F0-E852-D4100583D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AA9D7-2DDA-4084-81E6-77EDDD6414E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D6001-F397-5907-4751-7B885F786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2479-571F-5310-09BE-CC9173715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A8B0-522E-4B6B-835B-BD0454792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25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7EA2B-0059-214C-0E95-BEEA622AC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CEA8E-B4E2-5452-63CF-3ABAACB41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66AE2-B336-05D2-2CAA-CE45F97F6D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AA9D7-2DDA-4084-81E6-77EDDD6414E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7DD6E-379B-BB7B-C6CE-D8ECC2D0A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8AC51-CED2-BCD5-466B-0E88568C5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3A8B0-522E-4B6B-835B-BD0454792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211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041759-D5B7-02A1-0127-6D1DD7155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1D8ABF-DAF2-CD9C-EE85-37D0A5267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-3205593" y="377784"/>
            <a:ext cx="3356658" cy="7975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2502A9-0ADD-B046-97F2-57ED12A46B3B}"/>
              </a:ext>
            </a:extLst>
          </p:cNvPr>
          <p:cNvSpPr txBox="1"/>
          <p:nvPr/>
        </p:nvSpPr>
        <p:spPr>
          <a:xfrm>
            <a:off x="-3378322" y="1561718"/>
            <a:ext cx="386208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500" dirty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</a:rPr>
              <a:t>EMPATH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9A3207-FA08-5B36-2C92-7A9C5D58DCB4}"/>
              </a:ext>
            </a:extLst>
          </p:cNvPr>
          <p:cNvSpPr txBox="1"/>
          <p:nvPr/>
        </p:nvSpPr>
        <p:spPr>
          <a:xfrm>
            <a:off x="-6322002" y="2886817"/>
            <a:ext cx="4896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85000"/>
                  </a:schemeClr>
                </a:solidFill>
              </a:rPr>
              <a:t>Hum a melody. Get a full arrangement in seconds.</a:t>
            </a:r>
            <a:endParaRPr lang="en-IN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635BBBD-585C-EC9B-A11E-806D2B313C7B}"/>
              </a:ext>
            </a:extLst>
          </p:cNvPr>
          <p:cNvSpPr/>
          <p:nvPr/>
        </p:nvSpPr>
        <p:spPr>
          <a:xfrm>
            <a:off x="483764" y="6858000"/>
            <a:ext cx="4143735" cy="2804131"/>
          </a:xfrm>
          <a:prstGeom prst="round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F1C71D-A317-C223-F185-D6CD07376A72}"/>
              </a:ext>
            </a:extLst>
          </p:cNvPr>
          <p:cNvCxnSpPr>
            <a:cxnSpLocks/>
          </p:cNvCxnSpPr>
          <p:nvPr/>
        </p:nvCxnSpPr>
        <p:spPr>
          <a:xfrm>
            <a:off x="-5266776" y="2702185"/>
            <a:ext cx="1392819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713957F-5CAE-5594-9D63-FEA7D88A6278}"/>
              </a:ext>
            </a:extLst>
          </p:cNvPr>
          <p:cNvSpPr txBox="1"/>
          <p:nvPr/>
        </p:nvSpPr>
        <p:spPr>
          <a:xfrm>
            <a:off x="705612" y="6982794"/>
            <a:ext cx="4533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85000"/>
                  </a:schemeClr>
                </a:solidFill>
              </a:rPr>
              <a:t>Problem Statement ID: N/A</a:t>
            </a:r>
          </a:p>
          <a:p>
            <a:r>
              <a:rPr lang="en-IN" sz="2000" dirty="0">
                <a:solidFill>
                  <a:schemeClr val="bg1">
                    <a:lumMod val="85000"/>
                  </a:schemeClr>
                </a:solidFill>
              </a:rPr>
              <a:t>Team Name: Demorgorgon Debug</a:t>
            </a:r>
          </a:p>
          <a:p>
            <a:r>
              <a:rPr lang="en-IN" sz="2000" dirty="0">
                <a:solidFill>
                  <a:schemeClr val="bg1">
                    <a:lumMod val="85000"/>
                  </a:schemeClr>
                </a:solidFill>
              </a:rPr>
              <a:t>Team ID: HK041</a:t>
            </a:r>
          </a:p>
          <a:p>
            <a:endParaRPr lang="en-IN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E0D35E-B199-637D-2E15-DFA51E8B7EB0}"/>
              </a:ext>
            </a:extLst>
          </p:cNvPr>
          <p:cNvSpPr/>
          <p:nvPr/>
        </p:nvSpPr>
        <p:spPr>
          <a:xfrm>
            <a:off x="1396538" y="8663587"/>
            <a:ext cx="2203046" cy="1477328"/>
          </a:xfrm>
          <a:prstGeom prst="roundRect">
            <a:avLst/>
          </a:prstGeom>
          <a:solidFill>
            <a:srgbClr val="000000">
              <a:alpha val="27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D43E0C-5945-2667-5519-29AE3B7D985D}"/>
              </a:ext>
            </a:extLst>
          </p:cNvPr>
          <p:cNvSpPr txBox="1"/>
          <p:nvPr/>
        </p:nvSpPr>
        <p:spPr>
          <a:xfrm>
            <a:off x="1728345" y="8663587"/>
            <a:ext cx="18750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Team Members: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Caleb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Devansh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Bulbul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Chetna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BF866C-23D1-E5F9-895A-B9A017B25E1B}"/>
              </a:ext>
            </a:extLst>
          </p:cNvPr>
          <p:cNvSpPr/>
          <p:nvPr/>
        </p:nvSpPr>
        <p:spPr>
          <a:xfrm>
            <a:off x="-579120" y="-1316647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5A4DD6A-B895-F4B5-A674-80AD3FC5E400}"/>
              </a:ext>
            </a:extLst>
          </p:cNvPr>
          <p:cNvSpPr/>
          <p:nvPr/>
        </p:nvSpPr>
        <p:spPr>
          <a:xfrm>
            <a:off x="12192000" y="-3949593"/>
            <a:ext cx="6812280" cy="6004555"/>
          </a:xfrm>
          <a:prstGeom prst="ellipse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47D2C29-E5A1-1A00-609B-1BE113D40863}"/>
              </a:ext>
            </a:extLst>
          </p:cNvPr>
          <p:cNvSpPr/>
          <p:nvPr/>
        </p:nvSpPr>
        <p:spPr>
          <a:xfrm>
            <a:off x="12938760" y="3831753"/>
            <a:ext cx="5033637" cy="4700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33DA95A-4E5D-B590-CAA2-54EA3EDA028F}"/>
              </a:ext>
            </a:extLst>
          </p:cNvPr>
          <p:cNvSpPr/>
          <p:nvPr/>
        </p:nvSpPr>
        <p:spPr>
          <a:xfrm>
            <a:off x="8700414" y="7054486"/>
            <a:ext cx="3210431" cy="3218201"/>
          </a:xfrm>
          <a:prstGeom prst="ellipse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01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DE911D-0072-4690-702A-0242CE06E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AB23A2-E752-8CEA-C10B-5E4FB0333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2F8132-7FC6-4A10-ADFC-112C1294E971}"/>
              </a:ext>
            </a:extLst>
          </p:cNvPr>
          <p:cNvSpPr txBox="1"/>
          <p:nvPr/>
        </p:nvSpPr>
        <p:spPr>
          <a:xfrm>
            <a:off x="771647" y="1617454"/>
            <a:ext cx="386208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500" dirty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</a:rPr>
              <a:t>EMPATH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2C42C-DE27-2F4D-A3B3-16A7ADEC775E}"/>
              </a:ext>
            </a:extLst>
          </p:cNvPr>
          <p:cNvSpPr txBox="1"/>
          <p:nvPr/>
        </p:nvSpPr>
        <p:spPr>
          <a:xfrm>
            <a:off x="771647" y="2804813"/>
            <a:ext cx="4896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85000"/>
                  </a:schemeClr>
                </a:solidFill>
              </a:rPr>
              <a:t>Hum a melody. Get a full arrangement in seconds.</a:t>
            </a:r>
            <a:endParaRPr lang="en-IN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B01C5DC-472D-F4D3-B837-C1DE017679FF}"/>
              </a:ext>
            </a:extLst>
          </p:cNvPr>
          <p:cNvSpPr/>
          <p:nvPr/>
        </p:nvSpPr>
        <p:spPr>
          <a:xfrm>
            <a:off x="630822" y="3297991"/>
            <a:ext cx="4143735" cy="2804131"/>
          </a:xfrm>
          <a:prstGeom prst="round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498999-32B8-B080-69D9-4D6C178C57A6}"/>
              </a:ext>
            </a:extLst>
          </p:cNvPr>
          <p:cNvCxnSpPr>
            <a:cxnSpLocks/>
          </p:cNvCxnSpPr>
          <p:nvPr/>
        </p:nvCxnSpPr>
        <p:spPr>
          <a:xfrm>
            <a:off x="852670" y="2740839"/>
            <a:ext cx="1392819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64F2474-2877-6741-7159-70B2F234023B}"/>
              </a:ext>
            </a:extLst>
          </p:cNvPr>
          <p:cNvSpPr txBox="1"/>
          <p:nvPr/>
        </p:nvSpPr>
        <p:spPr>
          <a:xfrm>
            <a:off x="852670" y="3422785"/>
            <a:ext cx="4533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85000"/>
                  </a:schemeClr>
                </a:solidFill>
              </a:rPr>
              <a:t>Problem Statement ID: N/A</a:t>
            </a:r>
          </a:p>
          <a:p>
            <a:r>
              <a:rPr lang="en-IN" sz="2000" dirty="0">
                <a:solidFill>
                  <a:schemeClr val="bg1">
                    <a:lumMod val="85000"/>
                  </a:schemeClr>
                </a:solidFill>
              </a:rPr>
              <a:t>Team Name: Demorgorgon Debug</a:t>
            </a:r>
          </a:p>
          <a:p>
            <a:r>
              <a:rPr lang="en-IN" sz="2000" dirty="0">
                <a:solidFill>
                  <a:schemeClr val="bg1">
                    <a:lumMod val="85000"/>
                  </a:schemeClr>
                </a:solidFill>
              </a:rPr>
              <a:t>Team ID: HK041</a:t>
            </a:r>
          </a:p>
          <a:p>
            <a:endParaRPr lang="en-IN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14C643A-2D15-82EB-D93B-40B3B77728A4}"/>
              </a:ext>
            </a:extLst>
          </p:cNvPr>
          <p:cNvSpPr/>
          <p:nvPr/>
        </p:nvSpPr>
        <p:spPr>
          <a:xfrm>
            <a:off x="1601166" y="4427452"/>
            <a:ext cx="2203046" cy="1477328"/>
          </a:xfrm>
          <a:prstGeom prst="roundRect">
            <a:avLst/>
          </a:prstGeom>
          <a:solidFill>
            <a:srgbClr val="000000">
              <a:alpha val="27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393935-3DFB-DA9F-F2BE-153D2AA3E702}"/>
              </a:ext>
            </a:extLst>
          </p:cNvPr>
          <p:cNvSpPr txBox="1"/>
          <p:nvPr/>
        </p:nvSpPr>
        <p:spPr>
          <a:xfrm>
            <a:off x="1932973" y="4427452"/>
            <a:ext cx="18750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Team Members: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Caleb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Devansh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Bulbul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Chetna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ED9007-17FD-50E2-9A05-3E065C65A76D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4E50396-A844-D379-51DE-70936C54D2E3}"/>
              </a:ext>
            </a:extLst>
          </p:cNvPr>
          <p:cNvSpPr/>
          <p:nvPr/>
        </p:nvSpPr>
        <p:spPr>
          <a:xfrm>
            <a:off x="7096824" y="-1455361"/>
            <a:ext cx="6812280" cy="6004555"/>
          </a:xfrm>
          <a:prstGeom prst="ellipse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0AD520A-9FA1-C253-99EB-40A0F777702A}"/>
              </a:ext>
            </a:extLst>
          </p:cNvPr>
          <p:cNvSpPr/>
          <p:nvPr/>
        </p:nvSpPr>
        <p:spPr>
          <a:xfrm>
            <a:off x="8614940" y="2826637"/>
            <a:ext cx="5033637" cy="4700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0571A8-CB1B-B716-19F5-E871F4CE1B8E}"/>
              </a:ext>
            </a:extLst>
          </p:cNvPr>
          <p:cNvSpPr/>
          <p:nvPr/>
        </p:nvSpPr>
        <p:spPr>
          <a:xfrm>
            <a:off x="6749197" y="5037386"/>
            <a:ext cx="3210431" cy="3218201"/>
          </a:xfrm>
          <a:prstGeom prst="ellipse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0269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636823-1222-B135-E4D8-7EED59BAF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1F570C-5A52-30E5-CB6C-4BBCD9526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2EED700-4854-8112-C6C3-B024CF1715ED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60C72B-9865-91D2-F8C2-CA747FBA81A4}"/>
              </a:ext>
            </a:extLst>
          </p:cNvPr>
          <p:cNvSpPr/>
          <p:nvPr/>
        </p:nvSpPr>
        <p:spPr>
          <a:xfrm>
            <a:off x="514603" y="1465794"/>
            <a:ext cx="5483056" cy="155930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9D2F16-BE49-65F0-FA20-F9F4DD3CB8D6}"/>
              </a:ext>
            </a:extLst>
          </p:cNvPr>
          <p:cNvSpPr txBox="1"/>
          <p:nvPr/>
        </p:nvSpPr>
        <p:spPr>
          <a:xfrm>
            <a:off x="2137077" y="1486110"/>
            <a:ext cx="22381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A5AE16-4A21-56BE-3D8D-1213FA122E88}"/>
              </a:ext>
            </a:extLst>
          </p:cNvPr>
          <p:cNvSpPr txBox="1"/>
          <p:nvPr/>
        </p:nvSpPr>
        <p:spPr>
          <a:xfrm>
            <a:off x="663744" y="1965625"/>
            <a:ext cx="5203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Music producers lose creative flow because converting a hummed idea into a full arrangement takes 1-2 hours.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9F71C2-46F9-EB83-110E-3A4D314783C5}"/>
              </a:ext>
            </a:extLst>
          </p:cNvPr>
          <p:cNvSpPr txBox="1"/>
          <p:nvPr/>
        </p:nvSpPr>
        <p:spPr>
          <a:xfrm>
            <a:off x="935234" y="3177741"/>
            <a:ext cx="6684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to DAW takes hours, not seconds.</a:t>
            </a:r>
            <a:endParaRPr lang="en-US" sz="1800" dirty="0"/>
          </a:p>
        </p:txBody>
      </p:sp>
      <p:sp>
        <p:nvSpPr>
          <p:cNvPr id="43" name="Shape 7">
            <a:extLst>
              <a:ext uri="{FF2B5EF4-FFF2-40B4-BE49-F238E27FC236}">
                <a16:creationId xmlns:a16="http://schemas.microsoft.com/office/drawing/2014/main" id="{E05BCE42-B374-327D-11A2-E6AFC52D0C93}"/>
              </a:ext>
            </a:extLst>
          </p:cNvPr>
          <p:cNvSpPr/>
          <p:nvPr/>
        </p:nvSpPr>
        <p:spPr>
          <a:xfrm>
            <a:off x="613385" y="3912064"/>
            <a:ext cx="2368521" cy="1924987"/>
          </a:xfrm>
          <a:prstGeom prst="rect">
            <a:avLst/>
          </a:prstGeom>
          <a:solidFill>
            <a:srgbClr val="111128"/>
          </a:solidFill>
          <a:ln w="12700">
            <a:solidFill>
              <a:srgbClr val="475569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C3E87B35-104D-E083-140F-D764EE00A003}"/>
              </a:ext>
            </a:extLst>
          </p:cNvPr>
          <p:cNvSpPr/>
          <p:nvPr/>
        </p:nvSpPr>
        <p:spPr>
          <a:xfrm>
            <a:off x="613385" y="3912064"/>
            <a:ext cx="2368521" cy="5661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1421A187-C62D-60DA-777E-40C2B23FB360}"/>
              </a:ext>
            </a:extLst>
          </p:cNvPr>
          <p:cNvSpPr/>
          <p:nvPr/>
        </p:nvSpPr>
        <p:spPr>
          <a:xfrm>
            <a:off x="723113" y="4051553"/>
            <a:ext cx="2142947" cy="45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Voice memo</a:t>
            </a:r>
            <a:endParaRPr lang="en-US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D687F075-C3DC-FB27-5123-28B093161AFD}"/>
              </a:ext>
            </a:extLst>
          </p:cNvPr>
          <p:cNvSpPr/>
          <p:nvPr/>
        </p:nvSpPr>
        <p:spPr>
          <a:xfrm>
            <a:off x="723113" y="4719133"/>
            <a:ext cx="2142947" cy="566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 idea</a:t>
            </a:r>
            <a:endParaRPr lang="en-US" sz="16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C74FF9-8559-6C2E-0F7D-F894E0EC21B2}"/>
              </a:ext>
            </a:extLst>
          </p:cNvPr>
          <p:cNvSpPr/>
          <p:nvPr/>
        </p:nvSpPr>
        <p:spPr>
          <a:xfrm>
            <a:off x="6146800" y="1465794"/>
            <a:ext cx="5483056" cy="155930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284E72-1D68-9E18-9E8D-03BBB43E3E1C}"/>
              </a:ext>
            </a:extLst>
          </p:cNvPr>
          <p:cNvSpPr txBox="1"/>
          <p:nvPr/>
        </p:nvSpPr>
        <p:spPr>
          <a:xfrm>
            <a:off x="7769274" y="1486110"/>
            <a:ext cx="22381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39DE8-5D8A-7426-C06F-E3B931C03A5F}"/>
              </a:ext>
            </a:extLst>
          </p:cNvPr>
          <p:cNvSpPr txBox="1"/>
          <p:nvPr/>
        </p:nvSpPr>
        <p:spPr>
          <a:xfrm>
            <a:off x="6295941" y="2018335"/>
            <a:ext cx="5232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Empath converts a simple hum into a structured, DAW-ready arrangement in under 45 seconds.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363353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CFBEC-E823-4731-E4FE-9BD26EEA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95A79F-D523-8DE4-433A-1BC04228D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8601C7A-44F4-4638-F057-502EB80AB709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76E7E9-D542-2D8F-322E-C8FA6BDCC10D}"/>
              </a:ext>
            </a:extLst>
          </p:cNvPr>
          <p:cNvSpPr txBox="1"/>
          <p:nvPr/>
        </p:nvSpPr>
        <p:spPr>
          <a:xfrm>
            <a:off x="935234" y="3177741"/>
            <a:ext cx="6684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to DAW takes hours, not seconds.</a:t>
            </a:r>
            <a:endParaRPr lang="en-US" sz="1800" dirty="0"/>
          </a:p>
        </p:txBody>
      </p:sp>
      <p:sp>
        <p:nvSpPr>
          <p:cNvPr id="43" name="Shape 7">
            <a:extLst>
              <a:ext uri="{FF2B5EF4-FFF2-40B4-BE49-F238E27FC236}">
                <a16:creationId xmlns:a16="http://schemas.microsoft.com/office/drawing/2014/main" id="{C8C1D9F7-6CC4-DFFD-82F9-93297596A983}"/>
              </a:ext>
            </a:extLst>
          </p:cNvPr>
          <p:cNvSpPr/>
          <p:nvPr/>
        </p:nvSpPr>
        <p:spPr>
          <a:xfrm>
            <a:off x="613385" y="3912064"/>
            <a:ext cx="2368521" cy="1924987"/>
          </a:xfrm>
          <a:prstGeom prst="rect">
            <a:avLst/>
          </a:prstGeom>
          <a:solidFill>
            <a:srgbClr val="111128"/>
          </a:solidFill>
          <a:ln w="12700">
            <a:solidFill>
              <a:srgbClr val="475569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6C1DE505-6C81-DD22-28D4-F9A6815667E3}"/>
              </a:ext>
            </a:extLst>
          </p:cNvPr>
          <p:cNvSpPr/>
          <p:nvPr/>
        </p:nvSpPr>
        <p:spPr>
          <a:xfrm>
            <a:off x="613385" y="3912064"/>
            <a:ext cx="2368521" cy="5661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382C4EDC-1ACB-7A7A-D849-CFBD13AA7450}"/>
              </a:ext>
            </a:extLst>
          </p:cNvPr>
          <p:cNvSpPr/>
          <p:nvPr/>
        </p:nvSpPr>
        <p:spPr>
          <a:xfrm>
            <a:off x="723113" y="4051553"/>
            <a:ext cx="2142947" cy="45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Voice memo</a:t>
            </a:r>
            <a:endParaRPr lang="en-US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1A0658FC-603D-5EDC-EAE6-6F07899BBC67}"/>
              </a:ext>
            </a:extLst>
          </p:cNvPr>
          <p:cNvSpPr/>
          <p:nvPr/>
        </p:nvSpPr>
        <p:spPr>
          <a:xfrm>
            <a:off x="723113" y="4719133"/>
            <a:ext cx="2142947" cy="566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 idea</a:t>
            </a:r>
            <a:endParaRPr lang="en-US" sz="160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2296E5E8-A36A-CE7A-F08F-7EE0492535BC}"/>
              </a:ext>
            </a:extLst>
          </p:cNvPr>
          <p:cNvSpPr/>
          <p:nvPr/>
        </p:nvSpPr>
        <p:spPr>
          <a:xfrm>
            <a:off x="613385" y="3912064"/>
            <a:ext cx="2368521" cy="1924987"/>
          </a:xfrm>
          <a:prstGeom prst="rect">
            <a:avLst/>
          </a:prstGeom>
          <a:solidFill>
            <a:srgbClr val="111128"/>
          </a:solidFill>
          <a:ln w="12700">
            <a:solidFill>
              <a:srgbClr val="475569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374C383B-8399-40E5-7476-692787D935F5}"/>
              </a:ext>
            </a:extLst>
          </p:cNvPr>
          <p:cNvSpPr/>
          <p:nvPr/>
        </p:nvSpPr>
        <p:spPr>
          <a:xfrm>
            <a:off x="613385" y="3912064"/>
            <a:ext cx="2368521" cy="5661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B20D6424-9630-1918-6E4E-CEEC4CDC1495}"/>
              </a:ext>
            </a:extLst>
          </p:cNvPr>
          <p:cNvSpPr/>
          <p:nvPr/>
        </p:nvSpPr>
        <p:spPr>
          <a:xfrm>
            <a:off x="723113" y="4051553"/>
            <a:ext cx="2142947" cy="45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Voice memo</a:t>
            </a:r>
            <a:endParaRPr lang="en-US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C4728AE4-4ADD-686A-82AD-A45368ED1300}"/>
              </a:ext>
            </a:extLst>
          </p:cNvPr>
          <p:cNvSpPr/>
          <p:nvPr/>
        </p:nvSpPr>
        <p:spPr>
          <a:xfrm>
            <a:off x="723113" y="4719133"/>
            <a:ext cx="2142947" cy="566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 idea</a:t>
            </a:r>
            <a:endParaRPr lang="en-US" sz="1600" dirty="0"/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6508F639-B308-7E79-3238-2DC2802D76A6}"/>
              </a:ext>
            </a:extLst>
          </p:cNvPr>
          <p:cNvSpPr/>
          <p:nvPr/>
        </p:nvSpPr>
        <p:spPr>
          <a:xfrm>
            <a:off x="3493076" y="3925654"/>
            <a:ext cx="2368521" cy="1924987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640D2818-8EA6-3F76-2750-4B239E03C1EE}"/>
              </a:ext>
            </a:extLst>
          </p:cNvPr>
          <p:cNvSpPr/>
          <p:nvPr/>
        </p:nvSpPr>
        <p:spPr>
          <a:xfrm>
            <a:off x="3493076" y="3925654"/>
            <a:ext cx="2368521" cy="5661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1C3F53A3-63E5-8DC5-61A2-A0F1456215EB}"/>
              </a:ext>
            </a:extLst>
          </p:cNvPr>
          <p:cNvSpPr/>
          <p:nvPr/>
        </p:nvSpPr>
        <p:spPr>
          <a:xfrm>
            <a:off x="3612615" y="4175991"/>
            <a:ext cx="2142948" cy="4529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Transcribe to MIDI</a:t>
            </a:r>
            <a:endParaRPr lang="en-US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49EF46A2-E61F-4A1F-675E-9FCC706070FE}"/>
              </a:ext>
            </a:extLst>
          </p:cNvPr>
          <p:cNvSpPr/>
          <p:nvPr/>
        </p:nvSpPr>
        <p:spPr>
          <a:xfrm>
            <a:off x="3612614" y="4718407"/>
            <a:ext cx="2142948" cy="566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15–45 min, error-prone</a:t>
            </a:r>
            <a:endParaRPr lang="en-US" sz="16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8E24C32-21F8-D66D-8044-10A24BC60295}"/>
              </a:ext>
            </a:extLst>
          </p:cNvPr>
          <p:cNvCxnSpPr>
            <a:cxnSpLocks/>
          </p:cNvCxnSpPr>
          <p:nvPr/>
        </p:nvCxnSpPr>
        <p:spPr>
          <a:xfrm>
            <a:off x="2995409" y="4909661"/>
            <a:ext cx="511170" cy="135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C8709DE-92AF-7F29-5002-0A66C4FF2F55}"/>
              </a:ext>
            </a:extLst>
          </p:cNvPr>
          <p:cNvSpPr/>
          <p:nvPr/>
        </p:nvSpPr>
        <p:spPr>
          <a:xfrm>
            <a:off x="514603" y="1465794"/>
            <a:ext cx="5483056" cy="155930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EC639-0B34-57CA-E432-E6941A3BA7D4}"/>
              </a:ext>
            </a:extLst>
          </p:cNvPr>
          <p:cNvSpPr txBox="1"/>
          <p:nvPr/>
        </p:nvSpPr>
        <p:spPr>
          <a:xfrm>
            <a:off x="2137077" y="1486110"/>
            <a:ext cx="22381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PROBLEM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0497E3-93DA-C803-58A7-6A42E87E454C}"/>
              </a:ext>
            </a:extLst>
          </p:cNvPr>
          <p:cNvSpPr txBox="1"/>
          <p:nvPr/>
        </p:nvSpPr>
        <p:spPr>
          <a:xfrm>
            <a:off x="663744" y="2018335"/>
            <a:ext cx="52964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Music producers lose creative flow because converting a hummed idea into a full arrangement takes 1-2 hours.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47F9BF3-4314-A044-E8E5-25C9B242244D}"/>
              </a:ext>
            </a:extLst>
          </p:cNvPr>
          <p:cNvSpPr/>
          <p:nvPr/>
        </p:nvSpPr>
        <p:spPr>
          <a:xfrm>
            <a:off x="6146800" y="1465794"/>
            <a:ext cx="5483056" cy="155930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E79E69-12D9-20D5-52BF-49149731E991}"/>
              </a:ext>
            </a:extLst>
          </p:cNvPr>
          <p:cNvSpPr txBox="1"/>
          <p:nvPr/>
        </p:nvSpPr>
        <p:spPr>
          <a:xfrm>
            <a:off x="7769274" y="1486110"/>
            <a:ext cx="22381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SOLUTION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478D73-3A4B-D7FD-8082-0461C69443CF}"/>
              </a:ext>
            </a:extLst>
          </p:cNvPr>
          <p:cNvSpPr txBox="1"/>
          <p:nvPr/>
        </p:nvSpPr>
        <p:spPr>
          <a:xfrm>
            <a:off x="6295941" y="2018335"/>
            <a:ext cx="5232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Empath converts a simple hum into a structured, DAW-ready arrangement in under 45 seconds.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704369"/>
      </p:ext>
    </p:extLst>
  </p:cSld>
  <p:clrMapOvr>
    <a:masterClrMapping/>
  </p:clrMapOvr>
  <p:transition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00159A-6336-7835-C194-221B14C9A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B98F55-01CC-DC31-2577-0BFDDD492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FB14F1D-E8DD-1CEB-5581-8810BB8133BF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178916-3CDA-7F58-8CF0-435F596EE497}"/>
              </a:ext>
            </a:extLst>
          </p:cNvPr>
          <p:cNvSpPr txBox="1"/>
          <p:nvPr/>
        </p:nvSpPr>
        <p:spPr>
          <a:xfrm>
            <a:off x="935234" y="3177741"/>
            <a:ext cx="6684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to DAW takes hours, not seconds.</a:t>
            </a:r>
            <a:endParaRPr lang="en-US" sz="18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988297DF-3644-9137-B56C-8563E20885B3}"/>
              </a:ext>
            </a:extLst>
          </p:cNvPr>
          <p:cNvSpPr/>
          <p:nvPr/>
        </p:nvSpPr>
        <p:spPr>
          <a:xfrm>
            <a:off x="613385" y="3912064"/>
            <a:ext cx="2368521" cy="1924987"/>
          </a:xfrm>
          <a:prstGeom prst="rect">
            <a:avLst/>
          </a:prstGeom>
          <a:solidFill>
            <a:srgbClr val="111128"/>
          </a:solidFill>
          <a:ln w="12700">
            <a:solidFill>
              <a:srgbClr val="475569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C5C27585-CAC1-1CD4-68DA-38C50714E379}"/>
              </a:ext>
            </a:extLst>
          </p:cNvPr>
          <p:cNvSpPr/>
          <p:nvPr/>
        </p:nvSpPr>
        <p:spPr>
          <a:xfrm>
            <a:off x="613385" y="3912064"/>
            <a:ext cx="2368521" cy="5661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24D72A03-E759-65F7-AACD-60EFFF31F030}"/>
              </a:ext>
            </a:extLst>
          </p:cNvPr>
          <p:cNvSpPr/>
          <p:nvPr/>
        </p:nvSpPr>
        <p:spPr>
          <a:xfrm>
            <a:off x="723113" y="4051553"/>
            <a:ext cx="2142947" cy="45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Voice memo</a:t>
            </a:r>
            <a:endParaRPr lang="en-US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F4C70052-3E52-F141-91AC-58126C529821}"/>
              </a:ext>
            </a:extLst>
          </p:cNvPr>
          <p:cNvSpPr/>
          <p:nvPr/>
        </p:nvSpPr>
        <p:spPr>
          <a:xfrm>
            <a:off x="723113" y="4719133"/>
            <a:ext cx="2142947" cy="566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 idea</a:t>
            </a:r>
            <a:endParaRPr lang="en-US" sz="1600" dirty="0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9C07DE22-15E6-05C1-C19C-60BAA142345C}"/>
              </a:ext>
            </a:extLst>
          </p:cNvPr>
          <p:cNvSpPr/>
          <p:nvPr/>
        </p:nvSpPr>
        <p:spPr>
          <a:xfrm>
            <a:off x="3493076" y="3925654"/>
            <a:ext cx="2368521" cy="1924987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822617EE-9039-A21C-48A8-99A994D248FA}"/>
              </a:ext>
            </a:extLst>
          </p:cNvPr>
          <p:cNvSpPr/>
          <p:nvPr/>
        </p:nvSpPr>
        <p:spPr>
          <a:xfrm>
            <a:off x="3493076" y="3925654"/>
            <a:ext cx="2368521" cy="5661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C62D04F1-F5B3-C556-B34F-DF510AB444E7}"/>
              </a:ext>
            </a:extLst>
          </p:cNvPr>
          <p:cNvSpPr/>
          <p:nvPr/>
        </p:nvSpPr>
        <p:spPr>
          <a:xfrm>
            <a:off x="3612615" y="4175991"/>
            <a:ext cx="2142948" cy="4529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Transcribe to MIDI</a:t>
            </a:r>
            <a:endParaRPr lang="en-US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9E7A19BF-4077-6FCD-6FAC-5A57858259FF}"/>
              </a:ext>
            </a:extLst>
          </p:cNvPr>
          <p:cNvSpPr/>
          <p:nvPr/>
        </p:nvSpPr>
        <p:spPr>
          <a:xfrm>
            <a:off x="3612614" y="4718407"/>
            <a:ext cx="2142948" cy="566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15–45 min, error-prone</a:t>
            </a:r>
            <a:endParaRPr lang="en-US" sz="16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1FD2FA3C-1A88-86E1-0E60-9E000A0E3120}"/>
              </a:ext>
            </a:extLst>
          </p:cNvPr>
          <p:cNvSpPr/>
          <p:nvPr/>
        </p:nvSpPr>
        <p:spPr>
          <a:xfrm>
            <a:off x="6372767" y="3912064"/>
            <a:ext cx="2368521" cy="1924987"/>
          </a:xfrm>
          <a:prstGeom prst="rect">
            <a:avLst/>
          </a:prstGeom>
          <a:solidFill>
            <a:srgbClr val="111128"/>
          </a:solidFill>
          <a:ln w="12700">
            <a:solidFill>
              <a:schemeClr val="accent4">
                <a:lumMod val="60000"/>
                <a:lumOff val="40000"/>
              </a:schemeClr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11F84F42-96F8-B585-3610-EDD717F87CEB}"/>
              </a:ext>
            </a:extLst>
          </p:cNvPr>
          <p:cNvSpPr/>
          <p:nvPr/>
        </p:nvSpPr>
        <p:spPr>
          <a:xfrm>
            <a:off x="6372767" y="3912064"/>
            <a:ext cx="2368521" cy="5661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BF9AC9B2-3C0C-D382-8A05-02597580D784}"/>
              </a:ext>
            </a:extLst>
          </p:cNvPr>
          <p:cNvSpPr/>
          <p:nvPr/>
        </p:nvSpPr>
        <p:spPr>
          <a:xfrm>
            <a:off x="6482495" y="4051553"/>
            <a:ext cx="2142947" cy="45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Build chords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1FE866BC-0D3B-1E62-6029-55AA442B4C22}"/>
              </a:ext>
            </a:extLst>
          </p:cNvPr>
          <p:cNvSpPr/>
          <p:nvPr/>
        </p:nvSpPr>
        <p:spPr>
          <a:xfrm>
            <a:off x="6482495" y="4719133"/>
            <a:ext cx="2142947" cy="566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20–60 min, theory required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F82E923-A34C-A365-D271-F8B6E831F098}"/>
              </a:ext>
            </a:extLst>
          </p:cNvPr>
          <p:cNvCxnSpPr>
            <a:cxnSpLocks/>
          </p:cNvCxnSpPr>
          <p:nvPr/>
        </p:nvCxnSpPr>
        <p:spPr>
          <a:xfrm>
            <a:off x="2995409" y="4909661"/>
            <a:ext cx="511170" cy="135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BC970AC-27D6-9821-7B60-1ADD9DA9DBF3}"/>
              </a:ext>
            </a:extLst>
          </p:cNvPr>
          <p:cNvCxnSpPr>
            <a:cxnSpLocks/>
          </p:cNvCxnSpPr>
          <p:nvPr/>
        </p:nvCxnSpPr>
        <p:spPr>
          <a:xfrm>
            <a:off x="5867054" y="4923251"/>
            <a:ext cx="511170" cy="135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54363A1-62B1-2933-3FF7-EA7F8FB01903}"/>
              </a:ext>
            </a:extLst>
          </p:cNvPr>
          <p:cNvSpPr/>
          <p:nvPr/>
        </p:nvSpPr>
        <p:spPr>
          <a:xfrm>
            <a:off x="514603" y="1465794"/>
            <a:ext cx="5483056" cy="155930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D8E31B-BAF6-68BB-2B48-38FB4B8AB75A}"/>
              </a:ext>
            </a:extLst>
          </p:cNvPr>
          <p:cNvSpPr txBox="1"/>
          <p:nvPr/>
        </p:nvSpPr>
        <p:spPr>
          <a:xfrm>
            <a:off x="2137077" y="1486110"/>
            <a:ext cx="22381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PROBLEM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2ABBEB-A2FF-55CE-10A4-05EB21546BD1}"/>
              </a:ext>
            </a:extLst>
          </p:cNvPr>
          <p:cNvSpPr txBox="1"/>
          <p:nvPr/>
        </p:nvSpPr>
        <p:spPr>
          <a:xfrm>
            <a:off x="663744" y="2018335"/>
            <a:ext cx="52964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Music producers lose creative flow because converting a hummed idea into a full arrangement takes 1-2 hours.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6FE55FC-1F1F-CE00-8B5A-687398D453E5}"/>
              </a:ext>
            </a:extLst>
          </p:cNvPr>
          <p:cNvSpPr/>
          <p:nvPr/>
        </p:nvSpPr>
        <p:spPr>
          <a:xfrm>
            <a:off x="6146800" y="1465794"/>
            <a:ext cx="5483056" cy="155930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777738-36A4-489C-AF48-99D9DF0CB828}"/>
              </a:ext>
            </a:extLst>
          </p:cNvPr>
          <p:cNvSpPr txBox="1"/>
          <p:nvPr/>
        </p:nvSpPr>
        <p:spPr>
          <a:xfrm>
            <a:off x="7769274" y="1486110"/>
            <a:ext cx="22381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SOLUTION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172AF6-70EC-38BE-049C-C2F5DAF7F4C7}"/>
              </a:ext>
            </a:extLst>
          </p:cNvPr>
          <p:cNvSpPr txBox="1"/>
          <p:nvPr/>
        </p:nvSpPr>
        <p:spPr>
          <a:xfrm>
            <a:off x="6295941" y="2018335"/>
            <a:ext cx="5232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Empath converts a simple hum into a structured, DAW-ready arrangement in under 45 seconds.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908342"/>
      </p:ext>
    </p:extLst>
  </p:cSld>
  <p:clrMapOvr>
    <a:masterClrMapping/>
  </p:clrMapOvr>
  <p:transition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A9ED0C-93B3-83C2-9612-F69B8263C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7F84F4-4D50-8B51-6A8D-B0204432C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B6998CC-9627-4692-5D64-C3438E497597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FCB4718-F0B1-CE68-6935-FBE7785950F8}"/>
              </a:ext>
            </a:extLst>
          </p:cNvPr>
          <p:cNvSpPr/>
          <p:nvPr/>
        </p:nvSpPr>
        <p:spPr>
          <a:xfrm>
            <a:off x="613385" y="3912064"/>
            <a:ext cx="2368521" cy="1924987"/>
          </a:xfrm>
          <a:prstGeom prst="rect">
            <a:avLst/>
          </a:prstGeom>
          <a:solidFill>
            <a:srgbClr val="111128"/>
          </a:solidFill>
          <a:ln w="12700">
            <a:solidFill>
              <a:srgbClr val="475569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11AC6604-98DE-1E2C-2F9E-B2D30DDDD061}"/>
              </a:ext>
            </a:extLst>
          </p:cNvPr>
          <p:cNvSpPr/>
          <p:nvPr/>
        </p:nvSpPr>
        <p:spPr>
          <a:xfrm>
            <a:off x="613385" y="3912064"/>
            <a:ext cx="2368521" cy="5661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61302858-9149-503A-2C9E-0723CCA8D9E0}"/>
              </a:ext>
            </a:extLst>
          </p:cNvPr>
          <p:cNvSpPr/>
          <p:nvPr/>
        </p:nvSpPr>
        <p:spPr>
          <a:xfrm>
            <a:off x="723113" y="4051553"/>
            <a:ext cx="2142947" cy="45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Voice memo</a:t>
            </a:r>
            <a:endParaRPr lang="en-US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83448C4E-E8FE-CEE1-57DD-0AE0773ABEBA}"/>
              </a:ext>
            </a:extLst>
          </p:cNvPr>
          <p:cNvSpPr/>
          <p:nvPr/>
        </p:nvSpPr>
        <p:spPr>
          <a:xfrm>
            <a:off x="723113" y="4719133"/>
            <a:ext cx="2142947" cy="566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 idea</a:t>
            </a:r>
            <a:endParaRPr lang="en-US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7C99ED-A55F-BA8B-D374-2C8F91D9A95C}"/>
              </a:ext>
            </a:extLst>
          </p:cNvPr>
          <p:cNvSpPr txBox="1"/>
          <p:nvPr/>
        </p:nvSpPr>
        <p:spPr>
          <a:xfrm>
            <a:off x="935234" y="3177741"/>
            <a:ext cx="6684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to DAW takes hours, not seconds.</a:t>
            </a:r>
            <a:endParaRPr lang="en-US" sz="1800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B4BEC5A1-D4DB-E601-B2A3-2CCF1A44C322}"/>
              </a:ext>
            </a:extLst>
          </p:cNvPr>
          <p:cNvSpPr/>
          <p:nvPr/>
        </p:nvSpPr>
        <p:spPr>
          <a:xfrm>
            <a:off x="3493076" y="3925654"/>
            <a:ext cx="2368521" cy="1924987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A081F41B-241F-2F0F-D0EB-90E073FAEA69}"/>
              </a:ext>
            </a:extLst>
          </p:cNvPr>
          <p:cNvSpPr/>
          <p:nvPr/>
        </p:nvSpPr>
        <p:spPr>
          <a:xfrm>
            <a:off x="3493076" y="3925654"/>
            <a:ext cx="2368521" cy="5661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33ED6589-C89F-81F4-F209-6AD2E2B240C3}"/>
              </a:ext>
            </a:extLst>
          </p:cNvPr>
          <p:cNvSpPr/>
          <p:nvPr/>
        </p:nvSpPr>
        <p:spPr>
          <a:xfrm>
            <a:off x="3612615" y="4175991"/>
            <a:ext cx="2142948" cy="4529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Transcribe to MIDI</a:t>
            </a:r>
            <a:endParaRPr lang="en-US" dirty="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900C22CB-6C35-0132-A247-6CD4EA908512}"/>
              </a:ext>
            </a:extLst>
          </p:cNvPr>
          <p:cNvSpPr/>
          <p:nvPr/>
        </p:nvSpPr>
        <p:spPr>
          <a:xfrm>
            <a:off x="3612614" y="4718407"/>
            <a:ext cx="2142948" cy="566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15–45 min, error-prone</a:t>
            </a:r>
            <a:endParaRPr lang="en-US" sz="160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3856A4E9-2D8F-A854-BF87-A0E8DFA37376}"/>
              </a:ext>
            </a:extLst>
          </p:cNvPr>
          <p:cNvSpPr/>
          <p:nvPr/>
        </p:nvSpPr>
        <p:spPr>
          <a:xfrm>
            <a:off x="6372767" y="3912064"/>
            <a:ext cx="2368521" cy="1924987"/>
          </a:xfrm>
          <a:prstGeom prst="rect">
            <a:avLst/>
          </a:prstGeom>
          <a:solidFill>
            <a:srgbClr val="111128"/>
          </a:solidFill>
          <a:ln w="12700">
            <a:solidFill>
              <a:schemeClr val="accent4">
                <a:lumMod val="60000"/>
                <a:lumOff val="40000"/>
              </a:schemeClr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217765D8-9E40-699D-BFD4-3ED3D2B67707}"/>
              </a:ext>
            </a:extLst>
          </p:cNvPr>
          <p:cNvSpPr/>
          <p:nvPr/>
        </p:nvSpPr>
        <p:spPr>
          <a:xfrm>
            <a:off x="6372767" y="3912064"/>
            <a:ext cx="2368521" cy="5661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C75A6620-C686-244C-3E6C-D81832AEF157}"/>
              </a:ext>
            </a:extLst>
          </p:cNvPr>
          <p:cNvSpPr/>
          <p:nvPr/>
        </p:nvSpPr>
        <p:spPr>
          <a:xfrm>
            <a:off x="6482495" y="4051553"/>
            <a:ext cx="2142947" cy="45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Build chords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00233B80-7F94-95CE-9724-ED00086979E7}"/>
              </a:ext>
            </a:extLst>
          </p:cNvPr>
          <p:cNvSpPr/>
          <p:nvPr/>
        </p:nvSpPr>
        <p:spPr>
          <a:xfrm>
            <a:off x="6482495" y="4719133"/>
            <a:ext cx="2142947" cy="566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20–60 min, theory required</a:t>
            </a:r>
            <a:endParaRPr lang="en-US" sz="160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A525068A-0055-2550-70D8-AFC049BB33D6}"/>
              </a:ext>
            </a:extLst>
          </p:cNvPr>
          <p:cNvSpPr/>
          <p:nvPr/>
        </p:nvSpPr>
        <p:spPr>
          <a:xfrm>
            <a:off x="9252458" y="3912064"/>
            <a:ext cx="2368521" cy="1924987"/>
          </a:xfrm>
          <a:prstGeom prst="rect">
            <a:avLst/>
          </a:prstGeom>
          <a:solidFill>
            <a:srgbClr val="111128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051718B4-02C4-8388-B45E-E8D91C31A05C}"/>
              </a:ext>
            </a:extLst>
          </p:cNvPr>
          <p:cNvSpPr/>
          <p:nvPr/>
        </p:nvSpPr>
        <p:spPr>
          <a:xfrm>
            <a:off x="9252458" y="3912064"/>
            <a:ext cx="2368521" cy="5661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A196EE15-D676-C6FF-E038-839B6536E904}"/>
              </a:ext>
            </a:extLst>
          </p:cNvPr>
          <p:cNvSpPr/>
          <p:nvPr/>
        </p:nvSpPr>
        <p:spPr>
          <a:xfrm>
            <a:off x="9362186" y="4051553"/>
            <a:ext cx="2142947" cy="45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Load into DAW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14A8373-6918-0E08-D646-7B658D96B367}"/>
              </a:ext>
            </a:extLst>
          </p:cNvPr>
          <p:cNvSpPr/>
          <p:nvPr/>
        </p:nvSpPr>
        <p:spPr>
          <a:xfrm>
            <a:off x="9362186" y="4719133"/>
            <a:ext cx="2142947" cy="566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switching kills flow</a:t>
            </a:r>
            <a:endParaRPr lang="en-US" sz="16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A947142-4184-F45B-0B2B-251F0AAA67EE}"/>
              </a:ext>
            </a:extLst>
          </p:cNvPr>
          <p:cNvCxnSpPr>
            <a:cxnSpLocks/>
          </p:cNvCxnSpPr>
          <p:nvPr/>
        </p:nvCxnSpPr>
        <p:spPr>
          <a:xfrm>
            <a:off x="2995409" y="4909661"/>
            <a:ext cx="511170" cy="135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DDF2ADD-461D-6697-DB32-048C41745D6B}"/>
              </a:ext>
            </a:extLst>
          </p:cNvPr>
          <p:cNvCxnSpPr>
            <a:cxnSpLocks/>
          </p:cNvCxnSpPr>
          <p:nvPr/>
        </p:nvCxnSpPr>
        <p:spPr>
          <a:xfrm>
            <a:off x="5867054" y="4923251"/>
            <a:ext cx="511170" cy="135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1CD949C-3D21-F707-86C8-570E706D0181}"/>
              </a:ext>
            </a:extLst>
          </p:cNvPr>
          <p:cNvCxnSpPr>
            <a:cxnSpLocks/>
          </p:cNvCxnSpPr>
          <p:nvPr/>
        </p:nvCxnSpPr>
        <p:spPr>
          <a:xfrm>
            <a:off x="8747406" y="4909661"/>
            <a:ext cx="511170" cy="135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3E4DC2B-4372-9BF0-B001-3E1C29D8562C}"/>
              </a:ext>
            </a:extLst>
          </p:cNvPr>
          <p:cNvSpPr/>
          <p:nvPr/>
        </p:nvSpPr>
        <p:spPr>
          <a:xfrm>
            <a:off x="514603" y="1465794"/>
            <a:ext cx="5483056" cy="155930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C96CD6-BE13-5D2C-9DDA-36B874C1E6C4}"/>
              </a:ext>
            </a:extLst>
          </p:cNvPr>
          <p:cNvSpPr txBox="1"/>
          <p:nvPr/>
        </p:nvSpPr>
        <p:spPr>
          <a:xfrm>
            <a:off x="2137077" y="1486110"/>
            <a:ext cx="22381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PROBLEM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56E83B-6151-FBEC-DA80-54EE29FECDA4}"/>
              </a:ext>
            </a:extLst>
          </p:cNvPr>
          <p:cNvSpPr txBox="1"/>
          <p:nvPr/>
        </p:nvSpPr>
        <p:spPr>
          <a:xfrm>
            <a:off x="663744" y="2018335"/>
            <a:ext cx="52964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Music producers lose creative flow because converting a hummed idea into a full arrangement takes 1-2 hours.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D08D218-75A2-2805-0D32-44527B793AB8}"/>
              </a:ext>
            </a:extLst>
          </p:cNvPr>
          <p:cNvSpPr/>
          <p:nvPr/>
        </p:nvSpPr>
        <p:spPr>
          <a:xfrm>
            <a:off x="6146800" y="1465794"/>
            <a:ext cx="5483056" cy="155930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B72637-3CE3-448E-9465-129C4F8E788C}"/>
              </a:ext>
            </a:extLst>
          </p:cNvPr>
          <p:cNvSpPr txBox="1"/>
          <p:nvPr/>
        </p:nvSpPr>
        <p:spPr>
          <a:xfrm>
            <a:off x="7769274" y="1486110"/>
            <a:ext cx="22381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SOLUTION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316A51-0A07-9AD9-E12E-FC92F179E609}"/>
              </a:ext>
            </a:extLst>
          </p:cNvPr>
          <p:cNvSpPr txBox="1"/>
          <p:nvPr/>
        </p:nvSpPr>
        <p:spPr>
          <a:xfrm>
            <a:off x="6295941" y="2018335"/>
            <a:ext cx="5232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Empath converts a simple hum into a structured, DAW-ready arrangement in under 45 seconds.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904812"/>
      </p:ext>
    </p:extLst>
  </p:cSld>
  <p:clrMapOvr>
    <a:masterClrMapping/>
  </p:clrMapOvr>
  <p:transition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A5D38D-03E4-DA80-0921-07C941F3B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7808D1-9D0D-BFD5-0167-B86513BC2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DE7A6AC-E714-54E6-2907-F4AACCAD63EE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5F8AB47-BCA6-44DF-4334-161CC0F600A2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8711D-F6A2-E870-077A-A1EC4073A8EB}"/>
              </a:ext>
            </a:extLst>
          </p:cNvPr>
          <p:cNvSpPr txBox="1"/>
          <p:nvPr/>
        </p:nvSpPr>
        <p:spPr>
          <a:xfrm>
            <a:off x="4310316" y="1532757"/>
            <a:ext cx="3571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HOW IT WORKS ?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0F997D9-8E59-B878-E8E8-0F41075A456E}"/>
              </a:ext>
            </a:extLst>
          </p:cNvPr>
          <p:cNvSpPr/>
          <p:nvPr/>
        </p:nvSpPr>
        <p:spPr>
          <a:xfrm>
            <a:off x="64527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A78BFA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38E736B-2256-4A29-25F9-EC2B4E700653}"/>
              </a:ext>
            </a:extLst>
          </p:cNvPr>
          <p:cNvSpPr/>
          <p:nvPr/>
        </p:nvSpPr>
        <p:spPr>
          <a:xfrm>
            <a:off x="73671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B4407909-FC7B-0CC9-1049-A173100DFAE6}"/>
              </a:ext>
            </a:extLst>
          </p:cNvPr>
          <p:cNvSpPr/>
          <p:nvPr/>
        </p:nvSpPr>
        <p:spPr>
          <a:xfrm>
            <a:off x="736710" y="3108959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</a:t>
            </a:r>
            <a:endParaRPr lang="en-US" sz="13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A880F3E4-AD6B-5C73-D6DA-CB9A9C1DA6A0}"/>
              </a:ext>
            </a:extLst>
          </p:cNvPr>
          <p:cNvSpPr/>
          <p:nvPr/>
        </p:nvSpPr>
        <p:spPr>
          <a:xfrm>
            <a:off x="736710" y="3474720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melody into mic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5–30 seconds</a:t>
            </a:r>
            <a:endParaRPr lang="en-US" sz="95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7A85CBE4-EA13-26A1-9E93-8E1A6ED410E5}"/>
              </a:ext>
            </a:extLst>
          </p:cNvPr>
          <p:cNvSpPr/>
          <p:nvPr/>
        </p:nvSpPr>
        <p:spPr>
          <a:xfrm>
            <a:off x="238263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22D3EE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934B0EF6-4FFB-F45E-B4FA-2F64BB9AEFDA}"/>
              </a:ext>
            </a:extLst>
          </p:cNvPr>
          <p:cNvSpPr/>
          <p:nvPr/>
        </p:nvSpPr>
        <p:spPr>
          <a:xfrm>
            <a:off x="247407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435232FF-931E-2600-C79F-3D8EFD390956}"/>
              </a:ext>
            </a:extLst>
          </p:cNvPr>
          <p:cNvSpPr/>
          <p:nvPr/>
        </p:nvSpPr>
        <p:spPr>
          <a:xfrm>
            <a:off x="2474070" y="3108959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87E5FCB6-AFC4-81FF-9915-09D0BD53C172}"/>
              </a:ext>
            </a:extLst>
          </p:cNvPr>
          <p:cNvSpPr/>
          <p:nvPr/>
        </p:nvSpPr>
        <p:spPr>
          <a:xfrm>
            <a:off x="2474070" y="3474720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Kimi-Audio detects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key, mood, BPM, intent</a:t>
            </a:r>
            <a:endParaRPr lang="en-US" sz="950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641AB594-438E-4D44-384B-8DA8143D9ECB}"/>
              </a:ext>
            </a:extLst>
          </p:cNvPr>
          <p:cNvSpPr/>
          <p:nvPr/>
        </p:nvSpPr>
        <p:spPr>
          <a:xfrm>
            <a:off x="411999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BEF264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EE7951A6-DF6B-BF9E-4687-FEAD9D1F2C06}"/>
              </a:ext>
            </a:extLst>
          </p:cNvPr>
          <p:cNvSpPr/>
          <p:nvPr/>
        </p:nvSpPr>
        <p:spPr>
          <a:xfrm>
            <a:off x="421143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EF2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D9DF66B8-BAC2-956F-1813-5AF3AF217371}"/>
              </a:ext>
            </a:extLst>
          </p:cNvPr>
          <p:cNvSpPr/>
          <p:nvPr/>
        </p:nvSpPr>
        <p:spPr>
          <a:xfrm>
            <a:off x="4211430" y="3108959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Harmonise</a:t>
            </a:r>
            <a:endParaRPr lang="en-US" sz="1300" dirty="0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DB1B1066-B20B-F122-ED4D-5775DAAC86DE}"/>
              </a:ext>
            </a:extLst>
          </p:cNvPr>
          <p:cNvSpPr/>
          <p:nvPr/>
        </p:nvSpPr>
        <p:spPr>
          <a:xfrm>
            <a:off x="4211430" y="3474720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ChatMusician generates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chords + arrangement</a:t>
            </a:r>
            <a:endParaRPr lang="en-US" sz="950" dirty="0"/>
          </a:p>
        </p:txBody>
      </p:sp>
      <p:sp>
        <p:nvSpPr>
          <p:cNvPr id="32" name="Shape 21">
            <a:extLst>
              <a:ext uri="{FF2B5EF4-FFF2-40B4-BE49-F238E27FC236}">
                <a16:creationId xmlns:a16="http://schemas.microsoft.com/office/drawing/2014/main" id="{CC38F622-3086-8A40-3A2F-0DC4411489A4}"/>
              </a:ext>
            </a:extLst>
          </p:cNvPr>
          <p:cNvSpPr/>
          <p:nvPr/>
        </p:nvSpPr>
        <p:spPr>
          <a:xfrm>
            <a:off x="585735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C87890EA-742B-30D3-CF38-ACF7B2F9584B}"/>
              </a:ext>
            </a:extLst>
          </p:cNvPr>
          <p:cNvSpPr/>
          <p:nvPr/>
        </p:nvSpPr>
        <p:spPr>
          <a:xfrm>
            <a:off x="594879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C844C7EF-DE57-5688-DE4C-27E21424015C}"/>
              </a:ext>
            </a:extLst>
          </p:cNvPr>
          <p:cNvSpPr/>
          <p:nvPr/>
        </p:nvSpPr>
        <p:spPr>
          <a:xfrm>
            <a:off x="5948790" y="3108959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300" dirty="0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ECABE681-CAEA-17E0-9968-2B10C2FA4D23}"/>
              </a:ext>
            </a:extLst>
          </p:cNvPr>
          <p:cNvSpPr/>
          <p:nvPr/>
        </p:nvSpPr>
        <p:spPr>
          <a:xfrm>
            <a:off x="5948790" y="3474720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MusicGen-Chord produces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backing track audio</a:t>
            </a:r>
            <a:endParaRPr lang="en-US" sz="950" dirty="0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B0EEB10B-5D69-FC75-8E56-C8D8DA74AAD4}"/>
              </a:ext>
            </a:extLst>
          </p:cNvPr>
          <p:cNvSpPr/>
          <p:nvPr/>
        </p:nvSpPr>
        <p:spPr>
          <a:xfrm>
            <a:off x="759471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EC4899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159882FE-0EBE-0CD5-683E-DF83E84FCF29}"/>
              </a:ext>
            </a:extLst>
          </p:cNvPr>
          <p:cNvSpPr/>
          <p:nvPr/>
        </p:nvSpPr>
        <p:spPr>
          <a:xfrm>
            <a:off x="768615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07E5D609-D566-88B6-6935-94229CFAB8A5}"/>
              </a:ext>
            </a:extLst>
          </p:cNvPr>
          <p:cNvSpPr/>
          <p:nvPr/>
        </p:nvSpPr>
        <p:spPr>
          <a:xfrm>
            <a:off x="7686150" y="3108959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300" dirty="0"/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55F58C8F-D293-0EB7-DA06-E149604041EB}"/>
              </a:ext>
            </a:extLst>
          </p:cNvPr>
          <p:cNvSpPr/>
          <p:nvPr/>
        </p:nvSpPr>
        <p:spPr>
          <a:xfrm>
            <a:off x="7686150" y="3474720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Multi-track MIDI sent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to FL Studio</a:t>
            </a:r>
            <a:endParaRPr lang="en-US" sz="950" dirty="0"/>
          </a:p>
        </p:txBody>
      </p:sp>
      <p:sp>
        <p:nvSpPr>
          <p:cNvPr id="42" name="Shape 26">
            <a:extLst>
              <a:ext uri="{FF2B5EF4-FFF2-40B4-BE49-F238E27FC236}">
                <a16:creationId xmlns:a16="http://schemas.microsoft.com/office/drawing/2014/main" id="{50316A2C-6B41-8EEE-B4F5-068915642359}"/>
              </a:ext>
            </a:extLst>
          </p:cNvPr>
          <p:cNvSpPr/>
          <p:nvPr/>
        </p:nvSpPr>
        <p:spPr>
          <a:xfrm>
            <a:off x="933207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FF4747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CCAD04FB-31E6-C341-1388-AA8682EE2A8E}"/>
              </a:ext>
            </a:extLst>
          </p:cNvPr>
          <p:cNvSpPr/>
          <p:nvPr/>
        </p:nvSpPr>
        <p:spPr>
          <a:xfrm>
            <a:off x="942351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4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>
              <a:solidFill>
                <a:srgbClr val="FF4747"/>
              </a:solidFill>
            </a:endParaRPr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146FDEE5-D6EF-8C36-542F-120DA411F0D3}"/>
              </a:ext>
            </a:extLst>
          </p:cNvPr>
          <p:cNvSpPr/>
          <p:nvPr/>
        </p:nvSpPr>
        <p:spPr>
          <a:xfrm>
            <a:off x="9423510" y="3147974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via natural language</a:t>
            </a:r>
            <a:endParaRPr lang="en-US" sz="1300" dirty="0"/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94776FBE-3F84-8E74-AF69-42BF92390EA1}"/>
              </a:ext>
            </a:extLst>
          </p:cNvPr>
          <p:cNvSpPr/>
          <p:nvPr/>
        </p:nvSpPr>
        <p:spPr>
          <a:xfrm>
            <a:off x="9423509" y="3492398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types: "make this darker" or "add a counter-melody"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36840584"/>
      </p:ext>
    </p:extLst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D115F-CD65-5875-AA0E-8170F7729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1ECC50-B7DE-9A50-1FE1-51FA7D2B1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B06570A-63DF-BA7F-172D-29E50CA3867F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2E837B-5AAF-1A37-FCC9-535175BBA0DD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A30F6-8567-4EA6-9045-CCA6E588053A}"/>
              </a:ext>
            </a:extLst>
          </p:cNvPr>
          <p:cNvSpPr txBox="1"/>
          <p:nvPr/>
        </p:nvSpPr>
        <p:spPr>
          <a:xfrm>
            <a:off x="4310316" y="1532757"/>
            <a:ext cx="3571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HOW IT WORKS ?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096D8A7-C674-58C1-C5CB-C4E9C4FA7AF3}"/>
              </a:ext>
            </a:extLst>
          </p:cNvPr>
          <p:cNvSpPr/>
          <p:nvPr/>
        </p:nvSpPr>
        <p:spPr>
          <a:xfrm>
            <a:off x="64527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A78BFA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8E9B646-F828-D67F-84C5-A00CE822FB50}"/>
              </a:ext>
            </a:extLst>
          </p:cNvPr>
          <p:cNvSpPr/>
          <p:nvPr/>
        </p:nvSpPr>
        <p:spPr>
          <a:xfrm>
            <a:off x="73671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A276EE2E-BF5E-478E-9481-1578DF371889}"/>
              </a:ext>
            </a:extLst>
          </p:cNvPr>
          <p:cNvSpPr/>
          <p:nvPr/>
        </p:nvSpPr>
        <p:spPr>
          <a:xfrm>
            <a:off x="736710" y="3108959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</a:t>
            </a:r>
            <a:endParaRPr lang="en-US" sz="13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CB62BA01-1B7D-8E98-9B9A-0192756B7FEB}"/>
              </a:ext>
            </a:extLst>
          </p:cNvPr>
          <p:cNvSpPr/>
          <p:nvPr/>
        </p:nvSpPr>
        <p:spPr>
          <a:xfrm>
            <a:off x="736710" y="3474720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melody into mic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5–30 seconds</a:t>
            </a:r>
            <a:endParaRPr lang="en-US" sz="95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9C7DCAAE-E031-29A6-AFE6-259BE2E0BE5E}"/>
              </a:ext>
            </a:extLst>
          </p:cNvPr>
          <p:cNvSpPr/>
          <p:nvPr/>
        </p:nvSpPr>
        <p:spPr>
          <a:xfrm>
            <a:off x="287031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22D3EE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E4117363-CA2C-2CF2-C2A7-881681CC7C43}"/>
              </a:ext>
            </a:extLst>
          </p:cNvPr>
          <p:cNvSpPr/>
          <p:nvPr/>
        </p:nvSpPr>
        <p:spPr>
          <a:xfrm>
            <a:off x="2904376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212A79E0-FC3B-29AA-DFCE-3AB09C0B4FBF}"/>
              </a:ext>
            </a:extLst>
          </p:cNvPr>
          <p:cNvSpPr/>
          <p:nvPr/>
        </p:nvSpPr>
        <p:spPr>
          <a:xfrm>
            <a:off x="2904376" y="3108959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C6DBC165-3C9D-5999-A513-9BA599AD56AA}"/>
              </a:ext>
            </a:extLst>
          </p:cNvPr>
          <p:cNvSpPr/>
          <p:nvPr/>
        </p:nvSpPr>
        <p:spPr>
          <a:xfrm>
            <a:off x="2904376" y="3474720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Kimi-Audio detects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key, mood, BPM, intent</a:t>
            </a:r>
            <a:endParaRPr lang="en-US" sz="950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CF0FEF49-4903-632D-A46F-2E3F8AE0C6AC}"/>
              </a:ext>
            </a:extLst>
          </p:cNvPr>
          <p:cNvSpPr/>
          <p:nvPr/>
        </p:nvSpPr>
        <p:spPr>
          <a:xfrm>
            <a:off x="460767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BEF264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A4344C28-887A-8801-87E9-D0019AAA78AD}"/>
              </a:ext>
            </a:extLst>
          </p:cNvPr>
          <p:cNvSpPr/>
          <p:nvPr/>
        </p:nvSpPr>
        <p:spPr>
          <a:xfrm>
            <a:off x="4641736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EF2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51282BF6-D004-4C88-3322-07DFA3C5AC3D}"/>
              </a:ext>
            </a:extLst>
          </p:cNvPr>
          <p:cNvSpPr/>
          <p:nvPr/>
        </p:nvSpPr>
        <p:spPr>
          <a:xfrm>
            <a:off x="4641736" y="3108959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Harmonise</a:t>
            </a:r>
            <a:endParaRPr lang="en-US" sz="1300" dirty="0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72272256-6978-451D-80F7-CA83F65A7DB2}"/>
              </a:ext>
            </a:extLst>
          </p:cNvPr>
          <p:cNvSpPr/>
          <p:nvPr/>
        </p:nvSpPr>
        <p:spPr>
          <a:xfrm>
            <a:off x="4641736" y="3474720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ChatMusician generates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chords + arrangement</a:t>
            </a:r>
            <a:endParaRPr lang="en-US" sz="950" dirty="0"/>
          </a:p>
        </p:txBody>
      </p:sp>
      <p:sp>
        <p:nvSpPr>
          <p:cNvPr id="32" name="Shape 21">
            <a:extLst>
              <a:ext uri="{FF2B5EF4-FFF2-40B4-BE49-F238E27FC236}">
                <a16:creationId xmlns:a16="http://schemas.microsoft.com/office/drawing/2014/main" id="{16C0BF04-257B-B428-CD1C-1DD59109C989}"/>
              </a:ext>
            </a:extLst>
          </p:cNvPr>
          <p:cNvSpPr/>
          <p:nvPr/>
        </p:nvSpPr>
        <p:spPr>
          <a:xfrm>
            <a:off x="634503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027E8BBF-70EE-F55B-02DE-B87EDA6E6F8C}"/>
              </a:ext>
            </a:extLst>
          </p:cNvPr>
          <p:cNvSpPr/>
          <p:nvPr/>
        </p:nvSpPr>
        <p:spPr>
          <a:xfrm>
            <a:off x="6379096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B4C2AF13-A714-8F2E-B4C5-A53AAA6B7D2C}"/>
              </a:ext>
            </a:extLst>
          </p:cNvPr>
          <p:cNvSpPr/>
          <p:nvPr/>
        </p:nvSpPr>
        <p:spPr>
          <a:xfrm>
            <a:off x="6379096" y="3108959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300" dirty="0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CE413C5F-6F56-1E3D-9FC0-9DDACC7CCD23}"/>
              </a:ext>
            </a:extLst>
          </p:cNvPr>
          <p:cNvSpPr/>
          <p:nvPr/>
        </p:nvSpPr>
        <p:spPr>
          <a:xfrm>
            <a:off x="6379096" y="3474720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MusicGen-Chord produces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backing track audio</a:t>
            </a:r>
            <a:endParaRPr lang="en-US" sz="950" dirty="0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F90C41D8-107E-0302-739B-DA1958630669}"/>
              </a:ext>
            </a:extLst>
          </p:cNvPr>
          <p:cNvSpPr/>
          <p:nvPr/>
        </p:nvSpPr>
        <p:spPr>
          <a:xfrm>
            <a:off x="808239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EC4899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846B1AC0-A480-FA0A-30B8-3610C0B45673}"/>
              </a:ext>
            </a:extLst>
          </p:cNvPr>
          <p:cNvSpPr/>
          <p:nvPr/>
        </p:nvSpPr>
        <p:spPr>
          <a:xfrm>
            <a:off x="8116456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E61D27A9-E0BA-9B6C-15CA-BFFE4C3795E0}"/>
              </a:ext>
            </a:extLst>
          </p:cNvPr>
          <p:cNvSpPr/>
          <p:nvPr/>
        </p:nvSpPr>
        <p:spPr>
          <a:xfrm>
            <a:off x="8116456" y="3108959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300" dirty="0"/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D047F851-2839-7A6D-0FED-4FA04BCBB169}"/>
              </a:ext>
            </a:extLst>
          </p:cNvPr>
          <p:cNvSpPr/>
          <p:nvPr/>
        </p:nvSpPr>
        <p:spPr>
          <a:xfrm>
            <a:off x="8116456" y="3474720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Multi-track MIDI sent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to FL Studio</a:t>
            </a:r>
            <a:endParaRPr lang="en-US" sz="950" dirty="0"/>
          </a:p>
        </p:txBody>
      </p:sp>
      <p:sp>
        <p:nvSpPr>
          <p:cNvPr id="42" name="Shape 26">
            <a:extLst>
              <a:ext uri="{FF2B5EF4-FFF2-40B4-BE49-F238E27FC236}">
                <a16:creationId xmlns:a16="http://schemas.microsoft.com/office/drawing/2014/main" id="{34E83CC1-35FA-EAEB-BFDE-3077E67EFE4C}"/>
              </a:ext>
            </a:extLst>
          </p:cNvPr>
          <p:cNvSpPr/>
          <p:nvPr/>
        </p:nvSpPr>
        <p:spPr>
          <a:xfrm>
            <a:off x="981975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FF4747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FE551B24-D954-2183-E9F9-888C0DF3BDD5}"/>
              </a:ext>
            </a:extLst>
          </p:cNvPr>
          <p:cNvSpPr/>
          <p:nvPr/>
        </p:nvSpPr>
        <p:spPr>
          <a:xfrm>
            <a:off x="9853816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4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>
              <a:solidFill>
                <a:srgbClr val="FF4747"/>
              </a:solidFill>
            </a:endParaRPr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E94B34D3-08D9-2752-8F52-1164757F348E}"/>
              </a:ext>
            </a:extLst>
          </p:cNvPr>
          <p:cNvSpPr/>
          <p:nvPr/>
        </p:nvSpPr>
        <p:spPr>
          <a:xfrm>
            <a:off x="9853816" y="3147974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via natural language</a:t>
            </a:r>
            <a:endParaRPr lang="en-US" sz="1300" dirty="0"/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71479D06-FEC2-F577-DDF1-ABE45D301212}"/>
              </a:ext>
            </a:extLst>
          </p:cNvPr>
          <p:cNvSpPr/>
          <p:nvPr/>
        </p:nvSpPr>
        <p:spPr>
          <a:xfrm>
            <a:off x="9853815" y="3492398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types: "make this darker" or "add a counter-melody"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493716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B54D46-ABD2-77E2-6172-E1296C34A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3052C2-4E2A-ECB4-0D2B-A1EE97C8C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A6D858E-BD42-310E-2893-BA487B8CAD08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0F5014D-9C95-BBA4-4D64-E9FBE0E20AF7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6246E-DE05-C9FA-8369-87116FFB77A3}"/>
              </a:ext>
            </a:extLst>
          </p:cNvPr>
          <p:cNvSpPr txBox="1"/>
          <p:nvPr/>
        </p:nvSpPr>
        <p:spPr>
          <a:xfrm>
            <a:off x="4310316" y="1532757"/>
            <a:ext cx="3571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HOW IT WORKS ?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6A2AB7D-728C-6E5D-D70D-82E526CD7B4D}"/>
              </a:ext>
            </a:extLst>
          </p:cNvPr>
          <p:cNvSpPr/>
          <p:nvPr/>
        </p:nvSpPr>
        <p:spPr>
          <a:xfrm>
            <a:off x="645271" y="2697480"/>
            <a:ext cx="1737359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A78BFA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8D5EA73-DA21-8788-09B0-FAC55DD605E8}"/>
              </a:ext>
            </a:extLst>
          </p:cNvPr>
          <p:cNvSpPr/>
          <p:nvPr/>
        </p:nvSpPr>
        <p:spPr>
          <a:xfrm>
            <a:off x="73671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9AAC9076-F9B7-7D2C-E02D-13F4E057C9CF}"/>
              </a:ext>
            </a:extLst>
          </p:cNvPr>
          <p:cNvSpPr/>
          <p:nvPr/>
        </p:nvSpPr>
        <p:spPr>
          <a:xfrm>
            <a:off x="736710" y="3108959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</a:t>
            </a:r>
            <a:endParaRPr lang="en-US" sz="13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FB9CE6D2-9E3B-C855-63FE-6A614F131AE3}"/>
              </a:ext>
            </a:extLst>
          </p:cNvPr>
          <p:cNvSpPr/>
          <p:nvPr/>
        </p:nvSpPr>
        <p:spPr>
          <a:xfrm>
            <a:off x="736710" y="3474720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melody into mic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5–30 seconds</a:t>
            </a:r>
            <a:endParaRPr lang="en-US" sz="95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7358F12E-F51F-B866-C52E-8F918DB3B241}"/>
              </a:ext>
            </a:extLst>
          </p:cNvPr>
          <p:cNvSpPr/>
          <p:nvPr/>
        </p:nvSpPr>
        <p:spPr>
          <a:xfrm>
            <a:off x="238263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22D3EE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42D6292E-E314-1488-8E13-FE001722BF91}"/>
              </a:ext>
            </a:extLst>
          </p:cNvPr>
          <p:cNvSpPr/>
          <p:nvPr/>
        </p:nvSpPr>
        <p:spPr>
          <a:xfrm>
            <a:off x="247407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0BA3FD41-0DF2-41D9-A205-AB6AAC52CDD2}"/>
              </a:ext>
            </a:extLst>
          </p:cNvPr>
          <p:cNvSpPr/>
          <p:nvPr/>
        </p:nvSpPr>
        <p:spPr>
          <a:xfrm>
            <a:off x="2474070" y="3108959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7C6E414C-068B-34B1-3D56-86B7551D0954}"/>
              </a:ext>
            </a:extLst>
          </p:cNvPr>
          <p:cNvSpPr/>
          <p:nvPr/>
        </p:nvSpPr>
        <p:spPr>
          <a:xfrm>
            <a:off x="2474070" y="3474720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Kimi-Audio detects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key, mood, BPM, intent</a:t>
            </a:r>
            <a:endParaRPr lang="en-US" sz="950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90C8A5D8-0674-7F6A-8EFB-1FC947D32697}"/>
              </a:ext>
            </a:extLst>
          </p:cNvPr>
          <p:cNvSpPr/>
          <p:nvPr/>
        </p:nvSpPr>
        <p:spPr>
          <a:xfrm>
            <a:off x="460767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BEF264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EE8D4F63-5195-869A-DC40-BCECEDBD7C59}"/>
              </a:ext>
            </a:extLst>
          </p:cNvPr>
          <p:cNvSpPr/>
          <p:nvPr/>
        </p:nvSpPr>
        <p:spPr>
          <a:xfrm>
            <a:off x="4641736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EF2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A310F38C-79EF-5DC3-C8C5-1E62C552E442}"/>
              </a:ext>
            </a:extLst>
          </p:cNvPr>
          <p:cNvSpPr/>
          <p:nvPr/>
        </p:nvSpPr>
        <p:spPr>
          <a:xfrm>
            <a:off x="4641736" y="3108959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Harmonise</a:t>
            </a:r>
            <a:endParaRPr lang="en-US" sz="1300" dirty="0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BF0FD69E-5335-6F58-2DB0-7CA2708B1ABD}"/>
              </a:ext>
            </a:extLst>
          </p:cNvPr>
          <p:cNvSpPr/>
          <p:nvPr/>
        </p:nvSpPr>
        <p:spPr>
          <a:xfrm>
            <a:off x="4641736" y="3474720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ChatMusician generates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chords + arrangement</a:t>
            </a:r>
            <a:endParaRPr lang="en-US" sz="950" dirty="0"/>
          </a:p>
        </p:txBody>
      </p:sp>
      <p:sp>
        <p:nvSpPr>
          <p:cNvPr id="32" name="Shape 21">
            <a:extLst>
              <a:ext uri="{FF2B5EF4-FFF2-40B4-BE49-F238E27FC236}">
                <a16:creationId xmlns:a16="http://schemas.microsoft.com/office/drawing/2014/main" id="{7E7EE518-57EE-A54D-3492-D94A04FB2982}"/>
              </a:ext>
            </a:extLst>
          </p:cNvPr>
          <p:cNvSpPr/>
          <p:nvPr/>
        </p:nvSpPr>
        <p:spPr>
          <a:xfrm>
            <a:off x="634503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DF74CB44-FFC7-373E-9B07-59C984B619C3}"/>
              </a:ext>
            </a:extLst>
          </p:cNvPr>
          <p:cNvSpPr/>
          <p:nvPr/>
        </p:nvSpPr>
        <p:spPr>
          <a:xfrm>
            <a:off x="6379096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77752005-1F58-C3B4-7EE7-D84D5D04C49A}"/>
              </a:ext>
            </a:extLst>
          </p:cNvPr>
          <p:cNvSpPr/>
          <p:nvPr/>
        </p:nvSpPr>
        <p:spPr>
          <a:xfrm>
            <a:off x="6379096" y="3108959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300" dirty="0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7A477A5E-A29F-590B-3EDD-AA6F97994D88}"/>
              </a:ext>
            </a:extLst>
          </p:cNvPr>
          <p:cNvSpPr/>
          <p:nvPr/>
        </p:nvSpPr>
        <p:spPr>
          <a:xfrm>
            <a:off x="6379096" y="3474720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MusicGen-Chord produces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backing track audio</a:t>
            </a:r>
            <a:endParaRPr lang="en-US" sz="950" dirty="0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7DE54EDF-F1D0-2FAC-A4BA-E907250C44C1}"/>
              </a:ext>
            </a:extLst>
          </p:cNvPr>
          <p:cNvSpPr/>
          <p:nvPr/>
        </p:nvSpPr>
        <p:spPr>
          <a:xfrm>
            <a:off x="808239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EC4899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BFFBDECD-BBEC-0713-8F8E-252C0F16A177}"/>
              </a:ext>
            </a:extLst>
          </p:cNvPr>
          <p:cNvSpPr/>
          <p:nvPr/>
        </p:nvSpPr>
        <p:spPr>
          <a:xfrm>
            <a:off x="8116456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5CCC4B54-75AE-5C2F-1EA8-ADE1C9B7722E}"/>
              </a:ext>
            </a:extLst>
          </p:cNvPr>
          <p:cNvSpPr/>
          <p:nvPr/>
        </p:nvSpPr>
        <p:spPr>
          <a:xfrm>
            <a:off x="8116456" y="3108959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300" dirty="0"/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2FD27DFF-B2F6-9214-94D6-1272CBB93CD0}"/>
              </a:ext>
            </a:extLst>
          </p:cNvPr>
          <p:cNvSpPr/>
          <p:nvPr/>
        </p:nvSpPr>
        <p:spPr>
          <a:xfrm>
            <a:off x="8116456" y="3474720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Multi-track MIDI sent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to FL Studio</a:t>
            </a:r>
            <a:endParaRPr lang="en-US" sz="950" dirty="0"/>
          </a:p>
        </p:txBody>
      </p:sp>
      <p:sp>
        <p:nvSpPr>
          <p:cNvPr id="42" name="Shape 26">
            <a:extLst>
              <a:ext uri="{FF2B5EF4-FFF2-40B4-BE49-F238E27FC236}">
                <a16:creationId xmlns:a16="http://schemas.microsoft.com/office/drawing/2014/main" id="{7FE89857-6CE4-3A70-999B-2D8DED14A56A}"/>
              </a:ext>
            </a:extLst>
          </p:cNvPr>
          <p:cNvSpPr/>
          <p:nvPr/>
        </p:nvSpPr>
        <p:spPr>
          <a:xfrm>
            <a:off x="981975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FF4747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979268B6-BC4E-1894-2801-C0BD6D3E6C60}"/>
              </a:ext>
            </a:extLst>
          </p:cNvPr>
          <p:cNvSpPr/>
          <p:nvPr/>
        </p:nvSpPr>
        <p:spPr>
          <a:xfrm>
            <a:off x="9853816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4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>
              <a:solidFill>
                <a:srgbClr val="FF4747"/>
              </a:solidFill>
            </a:endParaRPr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B936F8C2-E69A-3DFA-41E0-6B7823B513C2}"/>
              </a:ext>
            </a:extLst>
          </p:cNvPr>
          <p:cNvSpPr/>
          <p:nvPr/>
        </p:nvSpPr>
        <p:spPr>
          <a:xfrm>
            <a:off x="9853816" y="3147974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via natural language</a:t>
            </a:r>
            <a:endParaRPr lang="en-US" sz="1300" dirty="0"/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3AA5D577-3E1A-7D4E-829B-AC1089051877}"/>
              </a:ext>
            </a:extLst>
          </p:cNvPr>
          <p:cNvSpPr/>
          <p:nvPr/>
        </p:nvSpPr>
        <p:spPr>
          <a:xfrm>
            <a:off x="9853815" y="3492398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types: "make this darker" or "add a counter-melody"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068085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E0E85-6BAC-0410-0AA7-22EDAADB4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05AB95-C103-EB45-E142-04C4FFC1D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6F21A88-8074-B23E-56EF-6F06DB8323C1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B752799-385F-EBB8-2670-0146088F2513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31AD00-8D51-3916-1F16-58D9B2B9C1D4}"/>
              </a:ext>
            </a:extLst>
          </p:cNvPr>
          <p:cNvSpPr txBox="1"/>
          <p:nvPr/>
        </p:nvSpPr>
        <p:spPr>
          <a:xfrm>
            <a:off x="4310316" y="1532757"/>
            <a:ext cx="3571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HOW IT WORKS ?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25A6577-CE95-E91A-9FF1-DE04F3F766DA}"/>
              </a:ext>
            </a:extLst>
          </p:cNvPr>
          <p:cNvSpPr/>
          <p:nvPr/>
        </p:nvSpPr>
        <p:spPr>
          <a:xfrm>
            <a:off x="645271" y="2697480"/>
            <a:ext cx="1749532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A78BFA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53C27F9-9FC5-B479-68C2-D768FA249B61}"/>
              </a:ext>
            </a:extLst>
          </p:cNvPr>
          <p:cNvSpPr/>
          <p:nvPr/>
        </p:nvSpPr>
        <p:spPr>
          <a:xfrm>
            <a:off x="736710" y="2761487"/>
            <a:ext cx="154370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C9C3DCC0-A41B-E141-974B-9BA7AEE6E99E}"/>
              </a:ext>
            </a:extLst>
          </p:cNvPr>
          <p:cNvSpPr/>
          <p:nvPr/>
        </p:nvSpPr>
        <p:spPr>
          <a:xfrm>
            <a:off x="736710" y="3108959"/>
            <a:ext cx="154370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</a:t>
            </a:r>
            <a:endParaRPr lang="en-US" sz="13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AE1F3C09-707A-4336-22BF-4C15BB528E8C}"/>
              </a:ext>
            </a:extLst>
          </p:cNvPr>
          <p:cNvSpPr/>
          <p:nvPr/>
        </p:nvSpPr>
        <p:spPr>
          <a:xfrm>
            <a:off x="736710" y="3474720"/>
            <a:ext cx="154370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melody into mic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5–30 seconds</a:t>
            </a:r>
            <a:endParaRPr lang="en-US" sz="95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3B7A846C-6F32-3B6C-3E71-F21BFC450CE0}"/>
              </a:ext>
            </a:extLst>
          </p:cNvPr>
          <p:cNvSpPr/>
          <p:nvPr/>
        </p:nvSpPr>
        <p:spPr>
          <a:xfrm>
            <a:off x="2382631" y="2697480"/>
            <a:ext cx="1749532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22D3EE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0F605B2D-1AD9-AAA2-1094-8B92AB4B5370}"/>
              </a:ext>
            </a:extLst>
          </p:cNvPr>
          <p:cNvSpPr/>
          <p:nvPr/>
        </p:nvSpPr>
        <p:spPr>
          <a:xfrm>
            <a:off x="2474070" y="2761487"/>
            <a:ext cx="154370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DE2F57AA-9AA9-4901-7BDD-6E7EDE465F71}"/>
              </a:ext>
            </a:extLst>
          </p:cNvPr>
          <p:cNvSpPr/>
          <p:nvPr/>
        </p:nvSpPr>
        <p:spPr>
          <a:xfrm>
            <a:off x="2474070" y="3108959"/>
            <a:ext cx="154370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F40D6F49-58F5-13F4-1B4A-57B971A6FD70}"/>
              </a:ext>
            </a:extLst>
          </p:cNvPr>
          <p:cNvSpPr/>
          <p:nvPr/>
        </p:nvSpPr>
        <p:spPr>
          <a:xfrm>
            <a:off x="2474070" y="3474720"/>
            <a:ext cx="154370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Kimi-Audio detects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key, mood, BPM, intent</a:t>
            </a:r>
            <a:endParaRPr lang="en-US" sz="950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F4BAC0A4-2BAE-BCF9-4DDD-0F78D6B2AF7B}"/>
              </a:ext>
            </a:extLst>
          </p:cNvPr>
          <p:cNvSpPr/>
          <p:nvPr/>
        </p:nvSpPr>
        <p:spPr>
          <a:xfrm>
            <a:off x="411999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BEF264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41BDFCEF-5467-9160-411B-35CE6E3A1C3C}"/>
              </a:ext>
            </a:extLst>
          </p:cNvPr>
          <p:cNvSpPr/>
          <p:nvPr/>
        </p:nvSpPr>
        <p:spPr>
          <a:xfrm>
            <a:off x="421143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EF2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60DCF5C9-CCE9-F1B3-BA28-3FF6C142E23C}"/>
              </a:ext>
            </a:extLst>
          </p:cNvPr>
          <p:cNvSpPr/>
          <p:nvPr/>
        </p:nvSpPr>
        <p:spPr>
          <a:xfrm>
            <a:off x="4211430" y="3108959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Harmonise</a:t>
            </a:r>
            <a:endParaRPr lang="en-US" sz="1300" dirty="0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BC8026D1-1A28-3C16-8F60-176CF221D753}"/>
              </a:ext>
            </a:extLst>
          </p:cNvPr>
          <p:cNvSpPr/>
          <p:nvPr/>
        </p:nvSpPr>
        <p:spPr>
          <a:xfrm>
            <a:off x="4211430" y="3474720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ChatMusician generates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chords + arrangement</a:t>
            </a:r>
            <a:endParaRPr lang="en-US" sz="950" dirty="0"/>
          </a:p>
        </p:txBody>
      </p:sp>
      <p:sp>
        <p:nvSpPr>
          <p:cNvPr id="32" name="Shape 21">
            <a:extLst>
              <a:ext uri="{FF2B5EF4-FFF2-40B4-BE49-F238E27FC236}">
                <a16:creationId xmlns:a16="http://schemas.microsoft.com/office/drawing/2014/main" id="{CE0E3EA2-8C62-2F89-625A-DE120EA3F407}"/>
              </a:ext>
            </a:extLst>
          </p:cNvPr>
          <p:cNvSpPr/>
          <p:nvPr/>
        </p:nvSpPr>
        <p:spPr>
          <a:xfrm>
            <a:off x="634503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FB8FDFD4-9E6D-C82F-BF46-1788092D18A5}"/>
              </a:ext>
            </a:extLst>
          </p:cNvPr>
          <p:cNvSpPr/>
          <p:nvPr/>
        </p:nvSpPr>
        <p:spPr>
          <a:xfrm>
            <a:off x="6379096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6294837B-E72F-8A11-4DA2-E271FF74EABA}"/>
              </a:ext>
            </a:extLst>
          </p:cNvPr>
          <p:cNvSpPr/>
          <p:nvPr/>
        </p:nvSpPr>
        <p:spPr>
          <a:xfrm>
            <a:off x="6379096" y="3108959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300" dirty="0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3F3A75C6-7A16-77E1-C5A3-40D90B2440D2}"/>
              </a:ext>
            </a:extLst>
          </p:cNvPr>
          <p:cNvSpPr/>
          <p:nvPr/>
        </p:nvSpPr>
        <p:spPr>
          <a:xfrm>
            <a:off x="6379096" y="3474720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MusicGen-Chord produces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backing track audio</a:t>
            </a:r>
            <a:endParaRPr lang="en-US" sz="950" dirty="0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E894A267-86D2-118D-487B-14F396032992}"/>
              </a:ext>
            </a:extLst>
          </p:cNvPr>
          <p:cNvSpPr/>
          <p:nvPr/>
        </p:nvSpPr>
        <p:spPr>
          <a:xfrm>
            <a:off x="808239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EC4899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F6F20960-C4C2-DD2C-C89B-A5114E6C0A27}"/>
              </a:ext>
            </a:extLst>
          </p:cNvPr>
          <p:cNvSpPr/>
          <p:nvPr/>
        </p:nvSpPr>
        <p:spPr>
          <a:xfrm>
            <a:off x="8116456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5ED233EC-F637-2CCF-1EB6-225526474B1C}"/>
              </a:ext>
            </a:extLst>
          </p:cNvPr>
          <p:cNvSpPr/>
          <p:nvPr/>
        </p:nvSpPr>
        <p:spPr>
          <a:xfrm>
            <a:off x="8116456" y="3108959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300" dirty="0"/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AAB8E6F7-CEA6-D06F-8F21-C2F1C26C6698}"/>
              </a:ext>
            </a:extLst>
          </p:cNvPr>
          <p:cNvSpPr/>
          <p:nvPr/>
        </p:nvSpPr>
        <p:spPr>
          <a:xfrm>
            <a:off x="8116456" y="3474720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Multi-track MIDI sent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to FL Studio</a:t>
            </a:r>
            <a:endParaRPr lang="en-US" sz="950" dirty="0"/>
          </a:p>
        </p:txBody>
      </p:sp>
      <p:sp>
        <p:nvSpPr>
          <p:cNvPr id="42" name="Shape 26">
            <a:extLst>
              <a:ext uri="{FF2B5EF4-FFF2-40B4-BE49-F238E27FC236}">
                <a16:creationId xmlns:a16="http://schemas.microsoft.com/office/drawing/2014/main" id="{891FEAB1-D1D4-C0B0-5821-26E452F0B064}"/>
              </a:ext>
            </a:extLst>
          </p:cNvPr>
          <p:cNvSpPr/>
          <p:nvPr/>
        </p:nvSpPr>
        <p:spPr>
          <a:xfrm>
            <a:off x="981975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FF4747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C47958BE-8DD7-7B12-0B46-810DC7830241}"/>
              </a:ext>
            </a:extLst>
          </p:cNvPr>
          <p:cNvSpPr/>
          <p:nvPr/>
        </p:nvSpPr>
        <p:spPr>
          <a:xfrm>
            <a:off x="9853816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4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>
              <a:solidFill>
                <a:srgbClr val="FF4747"/>
              </a:solidFill>
            </a:endParaRPr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E1E02F3E-6EE8-9E3A-7634-DE7CF75FC4E2}"/>
              </a:ext>
            </a:extLst>
          </p:cNvPr>
          <p:cNvSpPr/>
          <p:nvPr/>
        </p:nvSpPr>
        <p:spPr>
          <a:xfrm>
            <a:off x="9853816" y="3147974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via natural language</a:t>
            </a:r>
            <a:endParaRPr lang="en-US" sz="1300" dirty="0"/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B6CA5CBF-CB8F-F161-65BF-123DAE2C744A}"/>
              </a:ext>
            </a:extLst>
          </p:cNvPr>
          <p:cNvSpPr/>
          <p:nvPr/>
        </p:nvSpPr>
        <p:spPr>
          <a:xfrm>
            <a:off x="9853815" y="3492398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types: "make this darker" or "add a counter-melody"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383719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7098BB-3A4C-5C97-C05A-8206743A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FB04E2-C6CF-BAFE-8D62-A801CC44F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CE28630-18DF-B913-049B-BAA0CCE446CB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A6C10E-AE1E-3E17-58CF-F64A3B0558DB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A7A242-B9C1-AEA3-9F49-3BFCB9CB77FE}"/>
              </a:ext>
            </a:extLst>
          </p:cNvPr>
          <p:cNvSpPr txBox="1"/>
          <p:nvPr/>
        </p:nvSpPr>
        <p:spPr>
          <a:xfrm>
            <a:off x="4310316" y="1532757"/>
            <a:ext cx="3571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HOW IT WORKS ?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0DB9539-9DBF-1924-6D18-10DC177DBFF2}"/>
              </a:ext>
            </a:extLst>
          </p:cNvPr>
          <p:cNvSpPr/>
          <p:nvPr/>
        </p:nvSpPr>
        <p:spPr>
          <a:xfrm>
            <a:off x="645271" y="2697480"/>
            <a:ext cx="1737359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A78BFA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1E83592-E191-85AC-6F7F-B087515E37CA}"/>
              </a:ext>
            </a:extLst>
          </p:cNvPr>
          <p:cNvSpPr/>
          <p:nvPr/>
        </p:nvSpPr>
        <p:spPr>
          <a:xfrm>
            <a:off x="736711" y="2761487"/>
            <a:ext cx="1532964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63D5B0F9-BB4E-21AF-2D46-E380115B7A66}"/>
              </a:ext>
            </a:extLst>
          </p:cNvPr>
          <p:cNvSpPr/>
          <p:nvPr/>
        </p:nvSpPr>
        <p:spPr>
          <a:xfrm>
            <a:off x="736711" y="3108959"/>
            <a:ext cx="1532964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</a:t>
            </a:r>
            <a:endParaRPr lang="en-US" sz="13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D0C8FDF7-710C-6365-2326-86BEE0347B1F}"/>
              </a:ext>
            </a:extLst>
          </p:cNvPr>
          <p:cNvSpPr/>
          <p:nvPr/>
        </p:nvSpPr>
        <p:spPr>
          <a:xfrm>
            <a:off x="736711" y="3474720"/>
            <a:ext cx="1532964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melody into mic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5–30 seconds</a:t>
            </a:r>
            <a:endParaRPr lang="en-US" sz="95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AD83AEC2-1BD2-21E4-2367-7CFF11C1B03C}"/>
              </a:ext>
            </a:extLst>
          </p:cNvPr>
          <p:cNvSpPr/>
          <p:nvPr/>
        </p:nvSpPr>
        <p:spPr>
          <a:xfrm>
            <a:off x="2382631" y="2697480"/>
            <a:ext cx="1737359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22D3EE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B8D6220E-9A42-B319-5287-8FA286D9D54B}"/>
              </a:ext>
            </a:extLst>
          </p:cNvPr>
          <p:cNvSpPr/>
          <p:nvPr/>
        </p:nvSpPr>
        <p:spPr>
          <a:xfrm>
            <a:off x="2474071" y="2761487"/>
            <a:ext cx="1532964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F58AA001-6F1A-3248-C7E8-88DECE4D3157}"/>
              </a:ext>
            </a:extLst>
          </p:cNvPr>
          <p:cNvSpPr/>
          <p:nvPr/>
        </p:nvSpPr>
        <p:spPr>
          <a:xfrm>
            <a:off x="2474071" y="3108959"/>
            <a:ext cx="1532964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334F23A2-9202-49EC-6FB2-F1EF8C719239}"/>
              </a:ext>
            </a:extLst>
          </p:cNvPr>
          <p:cNvSpPr/>
          <p:nvPr/>
        </p:nvSpPr>
        <p:spPr>
          <a:xfrm>
            <a:off x="2474071" y="3474720"/>
            <a:ext cx="1532964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Kimi-Audio detects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key, mood, BPM, intent</a:t>
            </a:r>
            <a:endParaRPr lang="en-US" sz="950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D24FEF88-C03B-692B-55A2-FCC6EC3FD80F}"/>
              </a:ext>
            </a:extLst>
          </p:cNvPr>
          <p:cNvSpPr/>
          <p:nvPr/>
        </p:nvSpPr>
        <p:spPr>
          <a:xfrm>
            <a:off x="4119991" y="2697480"/>
            <a:ext cx="1737359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BEF264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183C3637-0DA0-497B-0002-359A02EF5163}"/>
              </a:ext>
            </a:extLst>
          </p:cNvPr>
          <p:cNvSpPr/>
          <p:nvPr/>
        </p:nvSpPr>
        <p:spPr>
          <a:xfrm>
            <a:off x="4211431" y="2761487"/>
            <a:ext cx="1532964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EF2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EE1009EA-1177-9FCC-50E8-294443FAE0B6}"/>
              </a:ext>
            </a:extLst>
          </p:cNvPr>
          <p:cNvSpPr/>
          <p:nvPr/>
        </p:nvSpPr>
        <p:spPr>
          <a:xfrm>
            <a:off x="4211431" y="3108959"/>
            <a:ext cx="1532964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Harmonise</a:t>
            </a:r>
            <a:endParaRPr lang="en-US" sz="1300" dirty="0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A90C00CA-CEF0-D3E8-CF4A-756A9F310B7E}"/>
              </a:ext>
            </a:extLst>
          </p:cNvPr>
          <p:cNvSpPr/>
          <p:nvPr/>
        </p:nvSpPr>
        <p:spPr>
          <a:xfrm>
            <a:off x="4211431" y="3474720"/>
            <a:ext cx="1532964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ChatMusician generates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chords + arrangement</a:t>
            </a:r>
            <a:endParaRPr lang="en-US" sz="950" dirty="0"/>
          </a:p>
        </p:txBody>
      </p:sp>
      <p:sp>
        <p:nvSpPr>
          <p:cNvPr id="32" name="Shape 21">
            <a:extLst>
              <a:ext uri="{FF2B5EF4-FFF2-40B4-BE49-F238E27FC236}">
                <a16:creationId xmlns:a16="http://schemas.microsoft.com/office/drawing/2014/main" id="{C0D0A37C-4E95-CF55-BA77-3415B8F188F0}"/>
              </a:ext>
            </a:extLst>
          </p:cNvPr>
          <p:cNvSpPr/>
          <p:nvPr/>
        </p:nvSpPr>
        <p:spPr>
          <a:xfrm>
            <a:off x="585735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7BC44715-1721-6615-3114-1D6E3CA77294}"/>
              </a:ext>
            </a:extLst>
          </p:cNvPr>
          <p:cNvSpPr/>
          <p:nvPr/>
        </p:nvSpPr>
        <p:spPr>
          <a:xfrm>
            <a:off x="594879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9CBF48A0-D15F-A356-0039-98CF52155DD8}"/>
              </a:ext>
            </a:extLst>
          </p:cNvPr>
          <p:cNvSpPr/>
          <p:nvPr/>
        </p:nvSpPr>
        <p:spPr>
          <a:xfrm>
            <a:off x="5948790" y="3108959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300" dirty="0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900D65E0-E6AC-3B75-7D35-D0290DAA4365}"/>
              </a:ext>
            </a:extLst>
          </p:cNvPr>
          <p:cNvSpPr/>
          <p:nvPr/>
        </p:nvSpPr>
        <p:spPr>
          <a:xfrm>
            <a:off x="5948790" y="3474720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MusicGen-Chord produces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backing track audio</a:t>
            </a:r>
            <a:endParaRPr lang="en-US" sz="950" dirty="0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332895CA-0CE2-F698-BF42-501E98BFD134}"/>
              </a:ext>
            </a:extLst>
          </p:cNvPr>
          <p:cNvSpPr/>
          <p:nvPr/>
        </p:nvSpPr>
        <p:spPr>
          <a:xfrm>
            <a:off x="808239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EC4899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46FEA052-54F4-E49E-9297-80F4A7096607}"/>
              </a:ext>
            </a:extLst>
          </p:cNvPr>
          <p:cNvSpPr/>
          <p:nvPr/>
        </p:nvSpPr>
        <p:spPr>
          <a:xfrm>
            <a:off x="8116456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E873D537-39FE-15FA-2348-5C311195B513}"/>
              </a:ext>
            </a:extLst>
          </p:cNvPr>
          <p:cNvSpPr/>
          <p:nvPr/>
        </p:nvSpPr>
        <p:spPr>
          <a:xfrm>
            <a:off x="8116456" y="3108959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300" dirty="0"/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57AA51EA-E3D9-98D3-99D5-6CB7163175F5}"/>
              </a:ext>
            </a:extLst>
          </p:cNvPr>
          <p:cNvSpPr/>
          <p:nvPr/>
        </p:nvSpPr>
        <p:spPr>
          <a:xfrm>
            <a:off x="8116456" y="3474720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Multi-track MIDI sent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to FL Studio</a:t>
            </a:r>
            <a:endParaRPr lang="en-US" sz="950" dirty="0"/>
          </a:p>
        </p:txBody>
      </p:sp>
      <p:sp>
        <p:nvSpPr>
          <p:cNvPr id="42" name="Shape 26">
            <a:extLst>
              <a:ext uri="{FF2B5EF4-FFF2-40B4-BE49-F238E27FC236}">
                <a16:creationId xmlns:a16="http://schemas.microsoft.com/office/drawing/2014/main" id="{7691D5EE-F660-2843-FF5B-3FDC79EFB804}"/>
              </a:ext>
            </a:extLst>
          </p:cNvPr>
          <p:cNvSpPr/>
          <p:nvPr/>
        </p:nvSpPr>
        <p:spPr>
          <a:xfrm>
            <a:off x="981975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FF4747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0101ADFD-073B-9238-3595-2384A81B3E42}"/>
              </a:ext>
            </a:extLst>
          </p:cNvPr>
          <p:cNvSpPr/>
          <p:nvPr/>
        </p:nvSpPr>
        <p:spPr>
          <a:xfrm>
            <a:off x="9853816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4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>
              <a:solidFill>
                <a:srgbClr val="FF4747"/>
              </a:solidFill>
            </a:endParaRPr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63C65D1D-2E2E-04F5-5F78-0BB7A3F4073C}"/>
              </a:ext>
            </a:extLst>
          </p:cNvPr>
          <p:cNvSpPr/>
          <p:nvPr/>
        </p:nvSpPr>
        <p:spPr>
          <a:xfrm>
            <a:off x="9853816" y="3147974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via natural language</a:t>
            </a:r>
            <a:endParaRPr lang="en-US" sz="1300" dirty="0"/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160D841F-83FB-9A74-B4BD-712B949857FC}"/>
              </a:ext>
            </a:extLst>
          </p:cNvPr>
          <p:cNvSpPr/>
          <p:nvPr/>
        </p:nvSpPr>
        <p:spPr>
          <a:xfrm>
            <a:off x="9853815" y="3492398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types: "make this darker" or "add a counter-melody"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37107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7ECE3F-94D1-C3B0-72F5-9EE45AF4D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355877-7210-A455-8E4F-7673317FF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F788C4A-83E8-8D00-EB26-00B802F2675B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26773F1-1C43-D844-2009-88AB02405AA8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FAB060-4267-A30D-1D69-0886748D9B0E}"/>
              </a:ext>
            </a:extLst>
          </p:cNvPr>
          <p:cNvSpPr txBox="1"/>
          <p:nvPr/>
        </p:nvSpPr>
        <p:spPr>
          <a:xfrm>
            <a:off x="4310316" y="1532757"/>
            <a:ext cx="3571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HOW IT WORKS ?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88C6A1B-0148-6557-9185-ACD480D29B21}"/>
              </a:ext>
            </a:extLst>
          </p:cNvPr>
          <p:cNvSpPr/>
          <p:nvPr/>
        </p:nvSpPr>
        <p:spPr>
          <a:xfrm>
            <a:off x="64527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A78BFA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4EBFB65-D2D0-425F-6CD4-B4921D5D58A9}"/>
              </a:ext>
            </a:extLst>
          </p:cNvPr>
          <p:cNvSpPr/>
          <p:nvPr/>
        </p:nvSpPr>
        <p:spPr>
          <a:xfrm>
            <a:off x="736710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9EC87E6F-9D0C-58FA-FA51-F9BA5535FC58}"/>
              </a:ext>
            </a:extLst>
          </p:cNvPr>
          <p:cNvSpPr/>
          <p:nvPr/>
        </p:nvSpPr>
        <p:spPr>
          <a:xfrm>
            <a:off x="736710" y="3108959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</a:t>
            </a:r>
            <a:endParaRPr lang="en-US" sz="13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E5DF85C3-2B4B-EBDB-82A3-C901530FA318}"/>
              </a:ext>
            </a:extLst>
          </p:cNvPr>
          <p:cNvSpPr/>
          <p:nvPr/>
        </p:nvSpPr>
        <p:spPr>
          <a:xfrm>
            <a:off x="736710" y="3474720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melody into mic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5–30 seconds</a:t>
            </a:r>
            <a:endParaRPr lang="en-US" sz="95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CB1C5C25-5FDA-E27E-B62C-574C1C33E511}"/>
              </a:ext>
            </a:extLst>
          </p:cNvPr>
          <p:cNvSpPr/>
          <p:nvPr/>
        </p:nvSpPr>
        <p:spPr>
          <a:xfrm>
            <a:off x="238263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22D3EE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3B10804E-9093-63E8-621E-0270295DD1ED}"/>
              </a:ext>
            </a:extLst>
          </p:cNvPr>
          <p:cNvSpPr/>
          <p:nvPr/>
        </p:nvSpPr>
        <p:spPr>
          <a:xfrm>
            <a:off x="2474070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D04522E6-B825-039F-4D17-2BEC05B59A1D}"/>
              </a:ext>
            </a:extLst>
          </p:cNvPr>
          <p:cNvSpPr/>
          <p:nvPr/>
        </p:nvSpPr>
        <p:spPr>
          <a:xfrm>
            <a:off x="2474070" y="3108959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71AA3729-D7BC-A5EB-E531-D1154EEA434B}"/>
              </a:ext>
            </a:extLst>
          </p:cNvPr>
          <p:cNvSpPr/>
          <p:nvPr/>
        </p:nvSpPr>
        <p:spPr>
          <a:xfrm>
            <a:off x="2474070" y="3474720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Kimi-Audio detects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key, mood, BPM, intent</a:t>
            </a:r>
            <a:endParaRPr lang="en-US" sz="950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0201AA6F-AA71-48AF-5442-3C9EFE90AEBD}"/>
              </a:ext>
            </a:extLst>
          </p:cNvPr>
          <p:cNvSpPr/>
          <p:nvPr/>
        </p:nvSpPr>
        <p:spPr>
          <a:xfrm>
            <a:off x="411999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BEF264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46B55E8F-F5F7-1430-7EC8-DCB4B1D26014}"/>
              </a:ext>
            </a:extLst>
          </p:cNvPr>
          <p:cNvSpPr/>
          <p:nvPr/>
        </p:nvSpPr>
        <p:spPr>
          <a:xfrm>
            <a:off x="4211430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EF2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25B254BB-0B7F-ABB2-E5BE-02D9FED24FAD}"/>
              </a:ext>
            </a:extLst>
          </p:cNvPr>
          <p:cNvSpPr/>
          <p:nvPr/>
        </p:nvSpPr>
        <p:spPr>
          <a:xfrm>
            <a:off x="4211430" y="3108959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Harmonise</a:t>
            </a:r>
            <a:endParaRPr lang="en-US" sz="1300" dirty="0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6DE6B4B8-B35B-6DAB-26B0-E43F6D02C880}"/>
              </a:ext>
            </a:extLst>
          </p:cNvPr>
          <p:cNvSpPr/>
          <p:nvPr/>
        </p:nvSpPr>
        <p:spPr>
          <a:xfrm>
            <a:off x="4211430" y="3474720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ChatMusician generates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chords + arrangement</a:t>
            </a:r>
            <a:endParaRPr lang="en-US" sz="950" dirty="0"/>
          </a:p>
        </p:txBody>
      </p:sp>
      <p:sp>
        <p:nvSpPr>
          <p:cNvPr id="32" name="Shape 21">
            <a:extLst>
              <a:ext uri="{FF2B5EF4-FFF2-40B4-BE49-F238E27FC236}">
                <a16:creationId xmlns:a16="http://schemas.microsoft.com/office/drawing/2014/main" id="{B5119D38-5B45-E259-7E97-A067C8D0C073}"/>
              </a:ext>
            </a:extLst>
          </p:cNvPr>
          <p:cNvSpPr/>
          <p:nvPr/>
        </p:nvSpPr>
        <p:spPr>
          <a:xfrm>
            <a:off x="5857351" y="2697480"/>
            <a:ext cx="173736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53AED4EC-7B5E-3DA5-7D2B-4DE0AC9403F8}"/>
              </a:ext>
            </a:extLst>
          </p:cNvPr>
          <p:cNvSpPr/>
          <p:nvPr/>
        </p:nvSpPr>
        <p:spPr>
          <a:xfrm>
            <a:off x="5948790" y="2761487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D255399B-C32B-C1B4-44A0-CC43E02F1804}"/>
              </a:ext>
            </a:extLst>
          </p:cNvPr>
          <p:cNvSpPr/>
          <p:nvPr/>
        </p:nvSpPr>
        <p:spPr>
          <a:xfrm>
            <a:off x="5948790" y="3108959"/>
            <a:ext cx="1532965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300" dirty="0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61D48BA9-4FF6-06A0-7FCE-99E73A5B6D29}"/>
              </a:ext>
            </a:extLst>
          </p:cNvPr>
          <p:cNvSpPr/>
          <p:nvPr/>
        </p:nvSpPr>
        <p:spPr>
          <a:xfrm>
            <a:off x="5948790" y="3474720"/>
            <a:ext cx="1532965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MusicGen-Chord produces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backing track audio</a:t>
            </a:r>
            <a:endParaRPr lang="en-US" sz="950" dirty="0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FD1168C0-6454-593F-1639-7491524AC28D}"/>
              </a:ext>
            </a:extLst>
          </p:cNvPr>
          <p:cNvSpPr/>
          <p:nvPr/>
        </p:nvSpPr>
        <p:spPr>
          <a:xfrm>
            <a:off x="759471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EC4899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93C08598-AB24-2C79-B7A3-3EA678C79760}"/>
              </a:ext>
            </a:extLst>
          </p:cNvPr>
          <p:cNvSpPr/>
          <p:nvPr/>
        </p:nvSpPr>
        <p:spPr>
          <a:xfrm>
            <a:off x="768615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071C9717-7B2D-E987-9452-1D0243C8B7C4}"/>
              </a:ext>
            </a:extLst>
          </p:cNvPr>
          <p:cNvSpPr/>
          <p:nvPr/>
        </p:nvSpPr>
        <p:spPr>
          <a:xfrm>
            <a:off x="7686150" y="3108959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300" dirty="0"/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AD5C35B2-1609-98C7-9CD7-6B3E435C34E8}"/>
              </a:ext>
            </a:extLst>
          </p:cNvPr>
          <p:cNvSpPr/>
          <p:nvPr/>
        </p:nvSpPr>
        <p:spPr>
          <a:xfrm>
            <a:off x="7686150" y="3474720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Multi-track MIDI sent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to FL Studio</a:t>
            </a:r>
            <a:endParaRPr lang="en-US" sz="950" dirty="0"/>
          </a:p>
        </p:txBody>
      </p:sp>
      <p:sp>
        <p:nvSpPr>
          <p:cNvPr id="42" name="Shape 26">
            <a:extLst>
              <a:ext uri="{FF2B5EF4-FFF2-40B4-BE49-F238E27FC236}">
                <a16:creationId xmlns:a16="http://schemas.microsoft.com/office/drawing/2014/main" id="{F3B61DEA-1498-EB77-1286-FE8AAD0BDC52}"/>
              </a:ext>
            </a:extLst>
          </p:cNvPr>
          <p:cNvSpPr/>
          <p:nvPr/>
        </p:nvSpPr>
        <p:spPr>
          <a:xfrm>
            <a:off x="9809369" y="2697480"/>
            <a:ext cx="1747742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FF4747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E1675D55-6E70-E93B-93CF-D782DE0B8BE7}"/>
              </a:ext>
            </a:extLst>
          </p:cNvPr>
          <p:cNvSpPr/>
          <p:nvPr/>
        </p:nvSpPr>
        <p:spPr>
          <a:xfrm>
            <a:off x="9844655" y="2761487"/>
            <a:ext cx="1542126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4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>
              <a:solidFill>
                <a:srgbClr val="FF4747"/>
              </a:solidFill>
            </a:endParaRPr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DE891E33-B4E8-B51A-8958-BA4FF057EE8F}"/>
              </a:ext>
            </a:extLst>
          </p:cNvPr>
          <p:cNvSpPr/>
          <p:nvPr/>
        </p:nvSpPr>
        <p:spPr>
          <a:xfrm>
            <a:off x="9844655" y="3147974"/>
            <a:ext cx="1542126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via natural language</a:t>
            </a:r>
            <a:endParaRPr lang="en-US" sz="1300" dirty="0"/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AC710CFC-743A-5FC4-7AB7-316A7198EBA6}"/>
              </a:ext>
            </a:extLst>
          </p:cNvPr>
          <p:cNvSpPr/>
          <p:nvPr/>
        </p:nvSpPr>
        <p:spPr>
          <a:xfrm>
            <a:off x="9844654" y="3492398"/>
            <a:ext cx="1542126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types: "make this darker" or "add a counter-melody"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699905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6F779-3B2F-E83F-A57D-07C52E539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608C1A-0321-9A77-A1B2-D23414D44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3588ECF-5235-94FA-D8B0-634E29F99796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D59FE4-55DF-702F-1BBD-625F81992646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95FEBF-E93E-2AB8-7A2F-82A79923EE07}"/>
              </a:ext>
            </a:extLst>
          </p:cNvPr>
          <p:cNvSpPr txBox="1"/>
          <p:nvPr/>
        </p:nvSpPr>
        <p:spPr>
          <a:xfrm>
            <a:off x="4310316" y="1532757"/>
            <a:ext cx="3571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HOW IT WORKS ?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49AB4E5-5E1C-ED30-C328-2EBC550B450D}"/>
              </a:ext>
            </a:extLst>
          </p:cNvPr>
          <p:cNvSpPr/>
          <p:nvPr/>
        </p:nvSpPr>
        <p:spPr>
          <a:xfrm>
            <a:off x="64527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A78BFA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6645353-D8DD-4139-896A-C9EC6CD08640}"/>
              </a:ext>
            </a:extLst>
          </p:cNvPr>
          <p:cNvSpPr/>
          <p:nvPr/>
        </p:nvSpPr>
        <p:spPr>
          <a:xfrm>
            <a:off x="73671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2F21F2CF-F6A3-A330-518B-29ACE14FF897}"/>
              </a:ext>
            </a:extLst>
          </p:cNvPr>
          <p:cNvSpPr/>
          <p:nvPr/>
        </p:nvSpPr>
        <p:spPr>
          <a:xfrm>
            <a:off x="736710" y="3108959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</a:t>
            </a:r>
            <a:endParaRPr lang="en-US" sz="13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57C413BA-7EAC-6420-4C15-EC86940E73D2}"/>
              </a:ext>
            </a:extLst>
          </p:cNvPr>
          <p:cNvSpPr/>
          <p:nvPr/>
        </p:nvSpPr>
        <p:spPr>
          <a:xfrm>
            <a:off x="736710" y="3474720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melody into mic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5–30 seconds</a:t>
            </a:r>
            <a:endParaRPr lang="en-US" sz="95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673AB870-EECD-1D6A-DCF3-130B6ACCB1DF}"/>
              </a:ext>
            </a:extLst>
          </p:cNvPr>
          <p:cNvSpPr/>
          <p:nvPr/>
        </p:nvSpPr>
        <p:spPr>
          <a:xfrm>
            <a:off x="238263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22D3EE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1D4D230B-6206-7D06-F956-28D6BDACDA61}"/>
              </a:ext>
            </a:extLst>
          </p:cNvPr>
          <p:cNvSpPr/>
          <p:nvPr/>
        </p:nvSpPr>
        <p:spPr>
          <a:xfrm>
            <a:off x="247407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EB2D4BCD-3815-2999-E847-22F55815F871}"/>
              </a:ext>
            </a:extLst>
          </p:cNvPr>
          <p:cNvSpPr/>
          <p:nvPr/>
        </p:nvSpPr>
        <p:spPr>
          <a:xfrm>
            <a:off x="2474070" y="3108959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3FAB100D-982A-5DD8-4C59-14BBE7743A00}"/>
              </a:ext>
            </a:extLst>
          </p:cNvPr>
          <p:cNvSpPr/>
          <p:nvPr/>
        </p:nvSpPr>
        <p:spPr>
          <a:xfrm>
            <a:off x="2474070" y="3474720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Kimi-Audio detects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key, mood, BPM, intent</a:t>
            </a:r>
            <a:endParaRPr lang="en-US" sz="950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6838A6D5-F333-0551-6405-04F160248F1F}"/>
              </a:ext>
            </a:extLst>
          </p:cNvPr>
          <p:cNvSpPr/>
          <p:nvPr/>
        </p:nvSpPr>
        <p:spPr>
          <a:xfrm>
            <a:off x="411999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BEF264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C978E8E6-404A-DC12-8691-4E47B2193DCA}"/>
              </a:ext>
            </a:extLst>
          </p:cNvPr>
          <p:cNvSpPr/>
          <p:nvPr/>
        </p:nvSpPr>
        <p:spPr>
          <a:xfrm>
            <a:off x="421143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EF2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3846808D-2F25-BFAF-95DF-F090041098DC}"/>
              </a:ext>
            </a:extLst>
          </p:cNvPr>
          <p:cNvSpPr/>
          <p:nvPr/>
        </p:nvSpPr>
        <p:spPr>
          <a:xfrm>
            <a:off x="4211430" y="3108959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Harmonise</a:t>
            </a:r>
            <a:endParaRPr lang="en-US" sz="1300" dirty="0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3445B50A-124E-F486-6FE9-A1BD94A6667B}"/>
              </a:ext>
            </a:extLst>
          </p:cNvPr>
          <p:cNvSpPr/>
          <p:nvPr/>
        </p:nvSpPr>
        <p:spPr>
          <a:xfrm>
            <a:off x="4211430" y="3474720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ChatMusician generates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chords + arrangement</a:t>
            </a:r>
            <a:endParaRPr lang="en-US" sz="950" dirty="0"/>
          </a:p>
        </p:txBody>
      </p:sp>
      <p:sp>
        <p:nvSpPr>
          <p:cNvPr id="32" name="Shape 21">
            <a:extLst>
              <a:ext uri="{FF2B5EF4-FFF2-40B4-BE49-F238E27FC236}">
                <a16:creationId xmlns:a16="http://schemas.microsoft.com/office/drawing/2014/main" id="{1763E145-4D16-0A56-2C91-F6B1876F7EA8}"/>
              </a:ext>
            </a:extLst>
          </p:cNvPr>
          <p:cNvSpPr/>
          <p:nvPr/>
        </p:nvSpPr>
        <p:spPr>
          <a:xfrm>
            <a:off x="585735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B06F8660-C744-D9EE-1C37-C07ACA68436E}"/>
              </a:ext>
            </a:extLst>
          </p:cNvPr>
          <p:cNvSpPr/>
          <p:nvPr/>
        </p:nvSpPr>
        <p:spPr>
          <a:xfrm>
            <a:off x="594879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924D0CD9-7B6A-F2EE-9344-33778665224E}"/>
              </a:ext>
            </a:extLst>
          </p:cNvPr>
          <p:cNvSpPr/>
          <p:nvPr/>
        </p:nvSpPr>
        <p:spPr>
          <a:xfrm>
            <a:off x="5948790" y="3108959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300" dirty="0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DCE99A50-6C1A-D81E-0B94-2B4A9F239DCD}"/>
              </a:ext>
            </a:extLst>
          </p:cNvPr>
          <p:cNvSpPr/>
          <p:nvPr/>
        </p:nvSpPr>
        <p:spPr>
          <a:xfrm>
            <a:off x="5948790" y="3474720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MusicGen-Chord produces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backing track audio</a:t>
            </a:r>
            <a:endParaRPr lang="en-US" sz="950" dirty="0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2CE20086-1A60-3E5C-7180-C76C81AA3873}"/>
              </a:ext>
            </a:extLst>
          </p:cNvPr>
          <p:cNvSpPr/>
          <p:nvPr/>
        </p:nvSpPr>
        <p:spPr>
          <a:xfrm>
            <a:off x="759471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EC4899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418CAA87-A603-9B74-0B49-4043CF16BD67}"/>
              </a:ext>
            </a:extLst>
          </p:cNvPr>
          <p:cNvSpPr/>
          <p:nvPr/>
        </p:nvSpPr>
        <p:spPr>
          <a:xfrm>
            <a:off x="768615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7BA5E1B5-6E25-7BF8-C417-E7D28B7E49F6}"/>
              </a:ext>
            </a:extLst>
          </p:cNvPr>
          <p:cNvSpPr/>
          <p:nvPr/>
        </p:nvSpPr>
        <p:spPr>
          <a:xfrm>
            <a:off x="7686150" y="3108959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300" dirty="0"/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017218F5-7AA2-79D5-23C1-56C5182D9D48}"/>
              </a:ext>
            </a:extLst>
          </p:cNvPr>
          <p:cNvSpPr/>
          <p:nvPr/>
        </p:nvSpPr>
        <p:spPr>
          <a:xfrm>
            <a:off x="7686150" y="3474720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Multi-track MIDI sent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to FL Studio</a:t>
            </a:r>
            <a:endParaRPr lang="en-US" sz="950" dirty="0"/>
          </a:p>
        </p:txBody>
      </p:sp>
      <p:sp>
        <p:nvSpPr>
          <p:cNvPr id="42" name="Shape 26">
            <a:extLst>
              <a:ext uri="{FF2B5EF4-FFF2-40B4-BE49-F238E27FC236}">
                <a16:creationId xmlns:a16="http://schemas.microsoft.com/office/drawing/2014/main" id="{8CCE653A-4CBB-B8C7-C333-78A80CA24F6B}"/>
              </a:ext>
            </a:extLst>
          </p:cNvPr>
          <p:cNvSpPr/>
          <p:nvPr/>
        </p:nvSpPr>
        <p:spPr>
          <a:xfrm>
            <a:off x="9332071" y="2697480"/>
            <a:ext cx="2225040" cy="2316480"/>
          </a:xfrm>
          <a:prstGeom prst="rect">
            <a:avLst/>
          </a:prstGeom>
          <a:solidFill>
            <a:srgbClr val="181835"/>
          </a:solidFill>
          <a:ln w="12700">
            <a:solidFill>
              <a:srgbClr val="FF4747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D11C3718-FB7A-AC54-5624-37443525AC79}"/>
              </a:ext>
            </a:extLst>
          </p:cNvPr>
          <p:cNvSpPr/>
          <p:nvPr/>
        </p:nvSpPr>
        <p:spPr>
          <a:xfrm>
            <a:off x="9423510" y="2761487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4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>
              <a:solidFill>
                <a:srgbClr val="FF4747"/>
              </a:solidFill>
            </a:endParaRPr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76C1FC87-A9CE-C526-1943-407B0EEF8197}"/>
              </a:ext>
            </a:extLst>
          </p:cNvPr>
          <p:cNvSpPr/>
          <p:nvPr/>
        </p:nvSpPr>
        <p:spPr>
          <a:xfrm>
            <a:off x="9423510" y="3147974"/>
            <a:ext cx="1963271" cy="440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via natural language</a:t>
            </a:r>
            <a:endParaRPr lang="en-US" sz="1300" dirty="0"/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CED1E4C7-9419-ECAE-893C-35DA3D5C57D9}"/>
              </a:ext>
            </a:extLst>
          </p:cNvPr>
          <p:cNvSpPr/>
          <p:nvPr/>
        </p:nvSpPr>
        <p:spPr>
          <a:xfrm>
            <a:off x="9423509" y="3492398"/>
            <a:ext cx="1963271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types: "make this darker" or "add a counter-melody"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638185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28440E-3322-593D-05CF-954EEA18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607B88-5B65-A8C5-5D8C-8CA570AFE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589D959-9AC2-633F-163A-C1484148E97E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C4A6E5-7627-BC8B-3C2B-F5CEA31002E5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876EE0-1469-B6C0-D670-59614E7184F3}"/>
              </a:ext>
            </a:extLst>
          </p:cNvPr>
          <p:cNvSpPr txBox="1"/>
          <p:nvPr/>
        </p:nvSpPr>
        <p:spPr>
          <a:xfrm>
            <a:off x="4043567" y="1555293"/>
            <a:ext cx="4440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TECHNOLOGY STACK</a:t>
            </a:r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0AB25F13-320C-D9E1-0A22-B9A92A651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561758"/>
              </p:ext>
            </p:extLst>
          </p:nvPr>
        </p:nvGraphicFramePr>
        <p:xfrm>
          <a:off x="2199639" y="2524427"/>
          <a:ext cx="8128000" cy="35487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620623019"/>
                    </a:ext>
                  </a:extLst>
                </a:gridCol>
              </a:tblGrid>
              <a:tr h="5438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Python (core logic &amp; orchestration)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89409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Audio recording module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586935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Local AI-based audio analysis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0334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Harmony generation engine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552416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MIDI conversion system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239921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FL Studio bridge using virtual MIDI routing</a:t>
                      </a:r>
                      <a:endParaRPr lang="en-IN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209088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Desktop UI interface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45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7747098"/>
      </p:ext>
    </p:ext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8DFA0-0313-29FF-A23E-739D68D89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D22A1C-1C19-284A-2668-1B7038EE5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3A83AEF-7795-E204-DD7F-DB724708A0FD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8B5DBFD-C4F5-A256-EABA-ED4034089833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DC852F-AA9F-D357-DDF2-1B7DC1AB240B}"/>
              </a:ext>
            </a:extLst>
          </p:cNvPr>
          <p:cNvSpPr txBox="1"/>
          <p:nvPr/>
        </p:nvSpPr>
        <p:spPr>
          <a:xfrm>
            <a:off x="4043567" y="1555293"/>
            <a:ext cx="4440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TECHNOLOGY STACK</a:t>
            </a:r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78648D64-E887-95D2-672B-7851B35D5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656036"/>
              </p:ext>
            </p:extLst>
          </p:nvPr>
        </p:nvGraphicFramePr>
        <p:xfrm>
          <a:off x="2199639" y="2524427"/>
          <a:ext cx="8128000" cy="35487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620623019"/>
                    </a:ext>
                  </a:extLst>
                </a:gridCol>
              </a:tblGrid>
              <a:tr h="5438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Python (core logic &amp; orchestration)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89409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Audio recording module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586935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Local AI-based audio analysis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0334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Harmony generation engine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552416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MIDI conversion system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239921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FL Studio bridge using virtual MIDI routing</a:t>
                      </a:r>
                      <a:endParaRPr lang="en-IN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209088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Desktop UI interface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45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898447"/>
      </p:ext>
    </p:extLst>
  </p:cSld>
  <p:clrMapOvr>
    <a:masterClrMapping/>
  </p:clrMapOvr>
  <p:transition>
    <p:circl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89AE0F-A6C3-AD86-A7FF-B43A67134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9D106E-814B-3410-2556-C33FBEF9F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DE2CD9B-BBF8-97FA-375A-A1AC300671A3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714003F-E53A-1117-AEB6-ED747C120EB0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E28EFE-5F17-1DED-97D7-A348D4D5D1FE}"/>
              </a:ext>
            </a:extLst>
          </p:cNvPr>
          <p:cNvSpPr txBox="1"/>
          <p:nvPr/>
        </p:nvSpPr>
        <p:spPr>
          <a:xfrm>
            <a:off x="4043567" y="1555293"/>
            <a:ext cx="4440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TECHNOLOGY STACK</a:t>
            </a:r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F460CF4A-F522-C4BA-E57E-AD052CE5A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132417"/>
              </p:ext>
            </p:extLst>
          </p:nvPr>
        </p:nvGraphicFramePr>
        <p:xfrm>
          <a:off x="2199639" y="2524427"/>
          <a:ext cx="8128000" cy="35487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620623019"/>
                    </a:ext>
                  </a:extLst>
                </a:gridCol>
              </a:tblGrid>
              <a:tr h="5438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Python (core logic &amp; orchestration)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89409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Audio recording module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586935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Local AI-based audio analysis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0334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Harmony generation engine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552416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MIDI conversion system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239921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FL Studio bridge using virtual MIDI routing</a:t>
                      </a:r>
                      <a:endParaRPr lang="en-IN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209088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Desktop UI interface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45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6925782"/>
      </p:ext>
    </p:extLst>
  </p:cSld>
  <p:clrMapOvr>
    <a:masterClrMapping/>
  </p:clrMapOvr>
  <p:transition>
    <p:circl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15C3A8-2039-E7EE-4523-5BAF7F58A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0F7225-C160-E6F7-226B-7F475DD10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53B54AD-5303-F763-6B0A-66DB2E9A8B5E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9109A4A-5A2E-F6E3-CFE8-24358DCECF91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4F1F9C-CD3B-0627-0233-9D1E0C3EC2B8}"/>
              </a:ext>
            </a:extLst>
          </p:cNvPr>
          <p:cNvSpPr txBox="1"/>
          <p:nvPr/>
        </p:nvSpPr>
        <p:spPr>
          <a:xfrm>
            <a:off x="4043567" y="1555293"/>
            <a:ext cx="4440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TECHNOLOGY STACK</a:t>
            </a:r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1CDE51CF-4103-3618-2DC5-8347CF582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716347"/>
              </p:ext>
            </p:extLst>
          </p:nvPr>
        </p:nvGraphicFramePr>
        <p:xfrm>
          <a:off x="2199639" y="2524427"/>
          <a:ext cx="8128000" cy="35487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620623019"/>
                    </a:ext>
                  </a:extLst>
                </a:gridCol>
              </a:tblGrid>
              <a:tr h="5438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Python (core logic &amp; orchestration)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89409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Audio recording module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586935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Local AI-based audio analysis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0334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Harmony generation engine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52416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MIDI conversion system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239921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FL Studio bridge using virtual MIDI routing</a:t>
                      </a:r>
                      <a:endParaRPr lang="en-IN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209088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Desktop UI interface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45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88314"/>
      </p:ext>
    </p:extLst>
  </p:cSld>
  <p:clrMapOvr>
    <a:masterClrMapping/>
  </p:clrMapOvr>
  <p:transition>
    <p:circl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2C0E8-82CD-041F-62AB-591590A7D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F530A4-62E7-5AB3-20AB-0092F4606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64515E0-B1F0-40A5-8EA7-2C8AFBAB29FA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42D45A-3878-2AF2-22E8-7FC56B4C4B87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916E7-D270-E15B-5852-7D286FEACF3D}"/>
              </a:ext>
            </a:extLst>
          </p:cNvPr>
          <p:cNvSpPr txBox="1"/>
          <p:nvPr/>
        </p:nvSpPr>
        <p:spPr>
          <a:xfrm>
            <a:off x="4043567" y="1555293"/>
            <a:ext cx="4440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TECHNOLOGY STACK</a:t>
            </a:r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9A26779C-F937-E411-3BB1-4BF59ACDA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23433"/>
              </p:ext>
            </p:extLst>
          </p:nvPr>
        </p:nvGraphicFramePr>
        <p:xfrm>
          <a:off x="2199639" y="2524427"/>
          <a:ext cx="8128000" cy="35487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620623019"/>
                    </a:ext>
                  </a:extLst>
                </a:gridCol>
              </a:tblGrid>
              <a:tr h="5438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Python (core logic &amp; orchestration)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89409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Audio recording module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586935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Local AI-based audio analysis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0334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Harmony generation engine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552416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MIDI conversion system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239921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FL Studio bridge using virtual MIDI routing</a:t>
                      </a:r>
                      <a:endParaRPr lang="en-IN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209088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Desktop UI interface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45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62040"/>
      </p:ext>
    </p:extLst>
  </p:cSld>
  <p:clrMapOvr>
    <a:masterClrMapping/>
  </p:clrMapOvr>
  <p:transition>
    <p:circl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26A910-219F-2BCB-71FA-F1F60CB0C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70D0AF-1514-92AA-6D86-7B95DC1BE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7129595-2AEA-555A-EC0A-6CCCC38261D4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7C1586E-E93F-7100-98C7-D4B48BC5B48F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04F43-71D2-D0DF-77D9-91E363A2CF5B}"/>
              </a:ext>
            </a:extLst>
          </p:cNvPr>
          <p:cNvSpPr txBox="1"/>
          <p:nvPr/>
        </p:nvSpPr>
        <p:spPr>
          <a:xfrm>
            <a:off x="4043567" y="1555293"/>
            <a:ext cx="4440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TECHNOLOGY STACK</a:t>
            </a:r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E273E9F9-945C-5089-102C-AF5B0A074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849298"/>
              </p:ext>
            </p:extLst>
          </p:nvPr>
        </p:nvGraphicFramePr>
        <p:xfrm>
          <a:off x="2199639" y="2524427"/>
          <a:ext cx="8128000" cy="35487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620623019"/>
                    </a:ext>
                  </a:extLst>
                </a:gridCol>
              </a:tblGrid>
              <a:tr h="5438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Python (core logic &amp; orchestration)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89409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Audio recording module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586935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Local AI-based audio analysis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0334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Harmony generation engine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552416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MIDI conversion system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239921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FL Studio bridge using virtual MIDI routing</a:t>
                      </a:r>
                      <a:endParaRPr lang="en-IN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209088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Desktop UI interface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45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315337"/>
      </p:ext>
    </p:extLst>
  </p:cSld>
  <p:clrMapOvr>
    <a:masterClrMapping/>
  </p:clrMapOvr>
  <p:transition>
    <p:circl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DB97BA-7FEB-52E8-DF00-BA0741F90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F9637C-490A-F2CC-08CA-AF41A1F9D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F206D0F-2863-84C1-FC0C-D4AF4CB1C1EA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F01B2A-828C-3231-9469-F2B724E0ED6E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E50CEE-C6DF-70D8-3FBF-E94873DF2953}"/>
              </a:ext>
            </a:extLst>
          </p:cNvPr>
          <p:cNvSpPr txBox="1"/>
          <p:nvPr/>
        </p:nvSpPr>
        <p:spPr>
          <a:xfrm>
            <a:off x="4043567" y="1555293"/>
            <a:ext cx="4440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TECHNOLOGY STACK</a:t>
            </a:r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1DB6D7F1-045A-BD2D-B2C1-14BB7C924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56725"/>
              </p:ext>
            </p:extLst>
          </p:nvPr>
        </p:nvGraphicFramePr>
        <p:xfrm>
          <a:off x="2199639" y="2524427"/>
          <a:ext cx="8128000" cy="35487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620623019"/>
                    </a:ext>
                  </a:extLst>
                </a:gridCol>
              </a:tblGrid>
              <a:tr h="5438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Python (core logic &amp; orchestration)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89409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Audio recording module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586935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Local AI-based audio analysis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0334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Harmony generation engine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552416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MIDI conversion system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239921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FL Studio bridge using virtual MIDI routing</a:t>
                      </a:r>
                      <a:endParaRPr lang="en-IN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209088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Desktop UI interface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345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453371"/>
      </p:ext>
    </p:extLst>
  </p:cSld>
  <p:clrMapOvr>
    <a:masterClrMapping/>
  </p:clrMapOvr>
  <p:transition>
    <p:circl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503161-7ECB-8E9A-D97A-F7FE3DC37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BE695-ED2A-6CD8-04FF-72AFA36DB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F7CA1F3-89C9-99E0-2615-AB35BB47C96F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6C5F1B7-3490-4920-5877-AFBCD70580DE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F6EC1-09A9-A8F9-52CF-E62B604D4D44}"/>
              </a:ext>
            </a:extLst>
          </p:cNvPr>
          <p:cNvSpPr txBox="1"/>
          <p:nvPr/>
        </p:nvSpPr>
        <p:spPr>
          <a:xfrm>
            <a:off x="4043567" y="1555293"/>
            <a:ext cx="4440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207828-D3CD-122B-58C6-FD09C48AE73B}"/>
              </a:ext>
            </a:extLst>
          </p:cNvPr>
          <p:cNvSpPr txBox="1"/>
          <p:nvPr/>
        </p:nvSpPr>
        <p:spPr>
          <a:xfrm>
            <a:off x="1594829" y="2599174"/>
            <a:ext cx="3830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Captured raw audio input.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FE0C64-DC2A-193B-3C2D-326BE67A01A7}"/>
              </a:ext>
            </a:extLst>
          </p:cNvPr>
          <p:cNvSpPr/>
          <p:nvPr/>
        </p:nvSpPr>
        <p:spPr>
          <a:xfrm>
            <a:off x="2043231" y="2491243"/>
            <a:ext cx="2929900" cy="538400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36A421-BC3A-11F0-8054-C9DA3D5F0917}"/>
              </a:ext>
            </a:extLst>
          </p:cNvPr>
          <p:cNvSpPr txBox="1"/>
          <p:nvPr/>
        </p:nvSpPr>
        <p:spPr>
          <a:xfrm>
            <a:off x="1986028" y="3420130"/>
            <a:ext cx="3138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Extracted musical features (pitch, tempo, mood).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99BC7A-7B76-A8EE-A736-8201ADDA0AC2}"/>
              </a:ext>
            </a:extLst>
          </p:cNvPr>
          <p:cNvSpPr/>
          <p:nvPr/>
        </p:nvSpPr>
        <p:spPr>
          <a:xfrm>
            <a:off x="1939059" y="3304817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7AAFD2-4D08-42F0-6B3C-F3A32C40AFD7}"/>
              </a:ext>
            </a:extLst>
          </p:cNvPr>
          <p:cNvSpPr txBox="1"/>
          <p:nvPr/>
        </p:nvSpPr>
        <p:spPr>
          <a:xfrm>
            <a:off x="1833021" y="4510701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Generated harmonically intelligent chord progressions.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F434E4-011E-01AA-47F2-9B2445104A2F}"/>
              </a:ext>
            </a:extLst>
          </p:cNvPr>
          <p:cNvSpPr/>
          <p:nvPr/>
        </p:nvSpPr>
        <p:spPr>
          <a:xfrm>
            <a:off x="1939059" y="4395390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199A69-E5A9-3232-D57C-7FC5B522B192}"/>
              </a:ext>
            </a:extLst>
          </p:cNvPr>
          <p:cNvSpPr txBox="1"/>
          <p:nvPr/>
        </p:nvSpPr>
        <p:spPr>
          <a:xfrm>
            <a:off x="1821197" y="5601272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Converted output into structured MIDI format.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8FCBCDE-FAE5-AFAB-48B1-7152045B6AAB}"/>
              </a:ext>
            </a:extLst>
          </p:cNvPr>
          <p:cNvSpPr/>
          <p:nvPr/>
        </p:nvSpPr>
        <p:spPr>
          <a:xfrm>
            <a:off x="1927235" y="5485961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BE60E0-0467-C7A1-6C4A-44A950AA275A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3508181" y="3029643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6D9D1D-35CA-4DD9-808E-CAC7B6447A2D}"/>
              </a:ext>
            </a:extLst>
          </p:cNvPr>
          <p:cNvCxnSpPr/>
          <p:nvPr/>
        </p:nvCxnSpPr>
        <p:spPr>
          <a:xfrm>
            <a:off x="3508181" y="4120216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7E2233A-0EF2-A94A-3A08-10E2682BACD3}"/>
              </a:ext>
            </a:extLst>
          </p:cNvPr>
          <p:cNvCxnSpPr/>
          <p:nvPr/>
        </p:nvCxnSpPr>
        <p:spPr>
          <a:xfrm>
            <a:off x="3530827" y="5210789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A385F67-2AC8-2BD2-CF7D-156FFBAAE5D6}"/>
              </a:ext>
            </a:extLst>
          </p:cNvPr>
          <p:cNvSpPr txBox="1"/>
          <p:nvPr/>
        </p:nvSpPr>
        <p:spPr>
          <a:xfrm>
            <a:off x="7218871" y="2598278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Routed multi-track output directly into DAW.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06C30D9-FD05-552D-3E13-6C1B5FE509EF}"/>
              </a:ext>
            </a:extLst>
          </p:cNvPr>
          <p:cNvSpPr/>
          <p:nvPr/>
        </p:nvSpPr>
        <p:spPr>
          <a:xfrm>
            <a:off x="7324909" y="2482967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0125C0-3244-98E7-7D92-DE0127A7D6CB}"/>
              </a:ext>
            </a:extLst>
          </p:cNvPr>
          <p:cNvSpPr txBox="1"/>
          <p:nvPr/>
        </p:nvSpPr>
        <p:spPr>
          <a:xfrm>
            <a:off x="7218871" y="3712516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Implemented natural language refinement layer.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4F7140A-CDE4-18FA-12B8-96C0E0E430C5}"/>
              </a:ext>
            </a:extLst>
          </p:cNvPr>
          <p:cNvSpPr/>
          <p:nvPr/>
        </p:nvSpPr>
        <p:spPr>
          <a:xfrm>
            <a:off x="7324908" y="3597205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B7C159-059F-2FE1-F855-63E303B05FE2}"/>
              </a:ext>
            </a:extLst>
          </p:cNvPr>
          <p:cNvSpPr txBox="1"/>
          <p:nvPr/>
        </p:nvSpPr>
        <p:spPr>
          <a:xfrm>
            <a:off x="7336732" y="4803088"/>
            <a:ext cx="3034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System runs locally without requiring internet after setup.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F55EFCC-CE8E-516C-2745-6F9CC8FD5EAF}"/>
              </a:ext>
            </a:extLst>
          </p:cNvPr>
          <p:cNvSpPr/>
          <p:nvPr/>
        </p:nvSpPr>
        <p:spPr>
          <a:xfrm>
            <a:off x="7324908" y="4711441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28765C3-DCDA-378C-452D-3B8D7C050B93}"/>
              </a:ext>
            </a:extLst>
          </p:cNvPr>
          <p:cNvCxnSpPr/>
          <p:nvPr/>
        </p:nvCxnSpPr>
        <p:spPr>
          <a:xfrm>
            <a:off x="8894030" y="3322031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76F38C-60A4-EE63-166B-BFD945AE54D2}"/>
              </a:ext>
            </a:extLst>
          </p:cNvPr>
          <p:cNvCxnSpPr/>
          <p:nvPr/>
        </p:nvCxnSpPr>
        <p:spPr>
          <a:xfrm>
            <a:off x="8894030" y="4422436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84436D79-0FB7-4095-2634-F83EED76B48E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5065479" y="2890667"/>
            <a:ext cx="2259430" cy="3002994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69674"/>
      </p:ext>
    </p:extLst>
  </p:cSld>
  <p:clrMapOvr>
    <a:masterClrMapping/>
  </p:clrMapOvr>
  <p:transition spd="med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E01E5-7709-14F9-17F3-DFE6F79B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EBEB35-04A6-AB62-4ADC-E2CDEFDA7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25932D-F6D5-96C7-59CC-03F332CF6185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213090-06A2-692F-F01A-80684B380860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7D01E-A28A-3E66-5536-C232EC4F812D}"/>
              </a:ext>
            </a:extLst>
          </p:cNvPr>
          <p:cNvSpPr txBox="1"/>
          <p:nvPr/>
        </p:nvSpPr>
        <p:spPr>
          <a:xfrm>
            <a:off x="4043567" y="1555293"/>
            <a:ext cx="4440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0F7470-7B9D-19A8-71C2-E2F277B7CE77}"/>
              </a:ext>
            </a:extLst>
          </p:cNvPr>
          <p:cNvSpPr txBox="1"/>
          <p:nvPr/>
        </p:nvSpPr>
        <p:spPr>
          <a:xfrm>
            <a:off x="1594829" y="2599174"/>
            <a:ext cx="3830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Captured raw audio input.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0D984C-5D92-6CE6-2BF7-6B1FDB0D16A7}"/>
              </a:ext>
            </a:extLst>
          </p:cNvPr>
          <p:cNvSpPr/>
          <p:nvPr/>
        </p:nvSpPr>
        <p:spPr>
          <a:xfrm>
            <a:off x="2043231" y="2491243"/>
            <a:ext cx="2929900" cy="538400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0EC80-6111-0DA6-8C2D-30246967A73E}"/>
              </a:ext>
            </a:extLst>
          </p:cNvPr>
          <p:cNvSpPr txBox="1"/>
          <p:nvPr/>
        </p:nvSpPr>
        <p:spPr>
          <a:xfrm>
            <a:off x="1986028" y="3420130"/>
            <a:ext cx="3138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Extracted musical features (pitch, tempo, mood).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E7F370-3936-7C54-4C63-D3E90B0CBE03}"/>
              </a:ext>
            </a:extLst>
          </p:cNvPr>
          <p:cNvSpPr/>
          <p:nvPr/>
        </p:nvSpPr>
        <p:spPr>
          <a:xfrm>
            <a:off x="1939059" y="3304817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D19A3-A897-E4C3-FFEA-8F33C0C98028}"/>
              </a:ext>
            </a:extLst>
          </p:cNvPr>
          <p:cNvSpPr txBox="1"/>
          <p:nvPr/>
        </p:nvSpPr>
        <p:spPr>
          <a:xfrm>
            <a:off x="1833021" y="4510701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Generated harmonically intelligent chord progressions.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57BFA9-3864-A270-9F9B-F5603A8758A9}"/>
              </a:ext>
            </a:extLst>
          </p:cNvPr>
          <p:cNvSpPr/>
          <p:nvPr/>
        </p:nvSpPr>
        <p:spPr>
          <a:xfrm>
            <a:off x="1939059" y="4395390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09A193-7E25-5824-78D7-DFB70FC49273}"/>
              </a:ext>
            </a:extLst>
          </p:cNvPr>
          <p:cNvSpPr txBox="1"/>
          <p:nvPr/>
        </p:nvSpPr>
        <p:spPr>
          <a:xfrm>
            <a:off x="1821197" y="5601272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Converted output into structured MIDI format.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D2FEA1-2F8A-A183-B325-B56BB1B36540}"/>
              </a:ext>
            </a:extLst>
          </p:cNvPr>
          <p:cNvSpPr/>
          <p:nvPr/>
        </p:nvSpPr>
        <p:spPr>
          <a:xfrm>
            <a:off x="1927235" y="5485961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1DB7B2-7486-80D9-CA80-1F74B2C4D3EE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3508181" y="3029643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0C6E61-798E-6858-B4EE-450393C320BE}"/>
              </a:ext>
            </a:extLst>
          </p:cNvPr>
          <p:cNvCxnSpPr/>
          <p:nvPr/>
        </p:nvCxnSpPr>
        <p:spPr>
          <a:xfrm>
            <a:off x="3508181" y="4120216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7089F8-C6FC-26C6-0BBB-AA85818B0622}"/>
              </a:ext>
            </a:extLst>
          </p:cNvPr>
          <p:cNvCxnSpPr/>
          <p:nvPr/>
        </p:nvCxnSpPr>
        <p:spPr>
          <a:xfrm>
            <a:off x="3530827" y="5210789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E5B8D7B-7404-6490-157E-8DB5D6C857FF}"/>
              </a:ext>
            </a:extLst>
          </p:cNvPr>
          <p:cNvSpPr txBox="1"/>
          <p:nvPr/>
        </p:nvSpPr>
        <p:spPr>
          <a:xfrm>
            <a:off x="7218871" y="2598278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Routed multi-track output directly into DAW.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160F1B2-B4A5-691F-2A3A-7E0DFAD13713}"/>
              </a:ext>
            </a:extLst>
          </p:cNvPr>
          <p:cNvSpPr/>
          <p:nvPr/>
        </p:nvSpPr>
        <p:spPr>
          <a:xfrm>
            <a:off x="7324909" y="2482967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694F82-AD3A-8142-A729-7C6427CCCC1C}"/>
              </a:ext>
            </a:extLst>
          </p:cNvPr>
          <p:cNvSpPr txBox="1"/>
          <p:nvPr/>
        </p:nvSpPr>
        <p:spPr>
          <a:xfrm>
            <a:off x="7218871" y="3712516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Implemented natural language refinement layer.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AE54365-45B0-4962-FEFD-412DA7F9BCF3}"/>
              </a:ext>
            </a:extLst>
          </p:cNvPr>
          <p:cNvSpPr/>
          <p:nvPr/>
        </p:nvSpPr>
        <p:spPr>
          <a:xfrm>
            <a:off x="7324908" y="3597205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BA0637-D29E-1F6A-0347-01C658DCA26B}"/>
              </a:ext>
            </a:extLst>
          </p:cNvPr>
          <p:cNvSpPr txBox="1"/>
          <p:nvPr/>
        </p:nvSpPr>
        <p:spPr>
          <a:xfrm>
            <a:off x="7336732" y="4803088"/>
            <a:ext cx="3034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System runs locally without requiring internet after setup.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464E9FE-D52B-DB68-75B4-217EDA4C54D7}"/>
              </a:ext>
            </a:extLst>
          </p:cNvPr>
          <p:cNvSpPr/>
          <p:nvPr/>
        </p:nvSpPr>
        <p:spPr>
          <a:xfrm>
            <a:off x="7324908" y="4711441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C37E99B-EA05-1B8E-9064-A5ED44A8076E}"/>
              </a:ext>
            </a:extLst>
          </p:cNvPr>
          <p:cNvCxnSpPr/>
          <p:nvPr/>
        </p:nvCxnSpPr>
        <p:spPr>
          <a:xfrm>
            <a:off x="8894030" y="3322031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EA8E16D-682E-A1DF-30AB-11B72D50BE00}"/>
              </a:ext>
            </a:extLst>
          </p:cNvPr>
          <p:cNvCxnSpPr/>
          <p:nvPr/>
        </p:nvCxnSpPr>
        <p:spPr>
          <a:xfrm>
            <a:off x="8894030" y="4422436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BA68B8C-4893-C124-D2A8-C3DD9B44A7F0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5065479" y="2890667"/>
            <a:ext cx="2259430" cy="3002994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364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4858FC-FFFC-F7E6-BD27-90CDCAFAB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6971DA-07D8-197B-23D8-A851105B4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6BFAEF1-837E-EE19-6968-AA9F0B88FFDB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E1ED056-9CFE-D98C-5660-CA935E09F20F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7EAA3D-86D1-3415-8496-D76B04703017}"/>
              </a:ext>
            </a:extLst>
          </p:cNvPr>
          <p:cNvSpPr txBox="1"/>
          <p:nvPr/>
        </p:nvSpPr>
        <p:spPr>
          <a:xfrm>
            <a:off x="4043567" y="1555293"/>
            <a:ext cx="4440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3B87F4-202A-0F1E-BCE4-4931E3261BF9}"/>
              </a:ext>
            </a:extLst>
          </p:cNvPr>
          <p:cNvSpPr txBox="1"/>
          <p:nvPr/>
        </p:nvSpPr>
        <p:spPr>
          <a:xfrm>
            <a:off x="1594829" y="2599174"/>
            <a:ext cx="3830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Captured raw audio input.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456030-1933-3150-4178-6FA37147B49B}"/>
              </a:ext>
            </a:extLst>
          </p:cNvPr>
          <p:cNvSpPr/>
          <p:nvPr/>
        </p:nvSpPr>
        <p:spPr>
          <a:xfrm>
            <a:off x="2043231" y="2491243"/>
            <a:ext cx="2929900" cy="538400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007F7C-5843-73F2-0243-348BCADC69F0}"/>
              </a:ext>
            </a:extLst>
          </p:cNvPr>
          <p:cNvSpPr txBox="1"/>
          <p:nvPr/>
        </p:nvSpPr>
        <p:spPr>
          <a:xfrm>
            <a:off x="1986028" y="3420130"/>
            <a:ext cx="3138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Extracted musical features (pitch, tempo, mood).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2808C6-46CF-50BB-CCB0-4AFEC7FB44CB}"/>
              </a:ext>
            </a:extLst>
          </p:cNvPr>
          <p:cNvSpPr/>
          <p:nvPr/>
        </p:nvSpPr>
        <p:spPr>
          <a:xfrm>
            <a:off x="1939059" y="3304817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126238-A26E-0A19-6532-989E9ED92876}"/>
              </a:ext>
            </a:extLst>
          </p:cNvPr>
          <p:cNvSpPr txBox="1"/>
          <p:nvPr/>
        </p:nvSpPr>
        <p:spPr>
          <a:xfrm>
            <a:off x="1833021" y="4510701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Generated harmonically intelligent chord progressions.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480F7F4-89C0-9CD8-C5A5-821C9FCD2B79}"/>
              </a:ext>
            </a:extLst>
          </p:cNvPr>
          <p:cNvSpPr/>
          <p:nvPr/>
        </p:nvSpPr>
        <p:spPr>
          <a:xfrm>
            <a:off x="1939059" y="4395390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1ABF23-7490-E5A6-6507-270629BA04E0}"/>
              </a:ext>
            </a:extLst>
          </p:cNvPr>
          <p:cNvSpPr txBox="1"/>
          <p:nvPr/>
        </p:nvSpPr>
        <p:spPr>
          <a:xfrm>
            <a:off x="1821197" y="5601272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Converted output into structured MIDI format.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22785A-15DF-88C0-C276-EA0F19AE5474}"/>
              </a:ext>
            </a:extLst>
          </p:cNvPr>
          <p:cNvSpPr/>
          <p:nvPr/>
        </p:nvSpPr>
        <p:spPr>
          <a:xfrm>
            <a:off x="1927235" y="5485961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F408FD-60DF-4D71-4024-732CCCBC3B01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3508181" y="3029643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119A49-4E17-E48F-3718-68F816819D7D}"/>
              </a:ext>
            </a:extLst>
          </p:cNvPr>
          <p:cNvCxnSpPr/>
          <p:nvPr/>
        </p:nvCxnSpPr>
        <p:spPr>
          <a:xfrm>
            <a:off x="3508181" y="4120216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04F304-DD80-B0E9-7B99-E851613901A7}"/>
              </a:ext>
            </a:extLst>
          </p:cNvPr>
          <p:cNvCxnSpPr/>
          <p:nvPr/>
        </p:nvCxnSpPr>
        <p:spPr>
          <a:xfrm>
            <a:off x="3530827" y="5210789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CA71E9C-D930-AF26-10CC-1C1890428D1B}"/>
              </a:ext>
            </a:extLst>
          </p:cNvPr>
          <p:cNvSpPr txBox="1"/>
          <p:nvPr/>
        </p:nvSpPr>
        <p:spPr>
          <a:xfrm>
            <a:off x="7218871" y="2598278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Routed multi-track output directly into DAW.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E86C1C6-81DA-8AC6-B474-DD7A24B5CB90}"/>
              </a:ext>
            </a:extLst>
          </p:cNvPr>
          <p:cNvSpPr/>
          <p:nvPr/>
        </p:nvSpPr>
        <p:spPr>
          <a:xfrm>
            <a:off x="7324909" y="2482967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12CCC6-BEB6-4B61-7A40-D4E06B56238F}"/>
              </a:ext>
            </a:extLst>
          </p:cNvPr>
          <p:cNvSpPr txBox="1"/>
          <p:nvPr/>
        </p:nvSpPr>
        <p:spPr>
          <a:xfrm>
            <a:off x="7218871" y="3712516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Implemented natural language refinement layer.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9739689-80D7-A085-C9F7-54AD62C97F1E}"/>
              </a:ext>
            </a:extLst>
          </p:cNvPr>
          <p:cNvSpPr/>
          <p:nvPr/>
        </p:nvSpPr>
        <p:spPr>
          <a:xfrm>
            <a:off x="7324908" y="3597205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FA7B3D-EE8B-9F70-7EC5-B726560C091D}"/>
              </a:ext>
            </a:extLst>
          </p:cNvPr>
          <p:cNvSpPr txBox="1"/>
          <p:nvPr/>
        </p:nvSpPr>
        <p:spPr>
          <a:xfrm>
            <a:off x="7336732" y="4803088"/>
            <a:ext cx="3034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System runs locally without requiring internet after setup.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5D27B21-1B9F-0FC3-F5C5-190561134651}"/>
              </a:ext>
            </a:extLst>
          </p:cNvPr>
          <p:cNvSpPr/>
          <p:nvPr/>
        </p:nvSpPr>
        <p:spPr>
          <a:xfrm>
            <a:off x="7324908" y="4711441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12A477E-5B5C-6FE0-9C53-DA6D8B2B0283}"/>
              </a:ext>
            </a:extLst>
          </p:cNvPr>
          <p:cNvCxnSpPr/>
          <p:nvPr/>
        </p:nvCxnSpPr>
        <p:spPr>
          <a:xfrm>
            <a:off x="8894030" y="3322031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7D4E456-DAD6-50F9-3B1A-29C42831BEF9}"/>
              </a:ext>
            </a:extLst>
          </p:cNvPr>
          <p:cNvCxnSpPr/>
          <p:nvPr/>
        </p:nvCxnSpPr>
        <p:spPr>
          <a:xfrm>
            <a:off x="8894030" y="4422436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8C39EC76-3C11-AEF0-7BAD-955FC4F4F864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5065479" y="2890667"/>
            <a:ext cx="2259430" cy="3002994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9479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9A46F-97D9-DF70-D541-C4F5ED160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D8ADEF-2C3A-32E2-5391-61F84E17B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D3B8490-CBA5-E7CE-8579-4C9A342F37C5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2BD3C5-26AC-2DDF-8366-7A3FF9E47F6F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C31F6-513F-1B3F-1A4B-22EA68B79430}"/>
              </a:ext>
            </a:extLst>
          </p:cNvPr>
          <p:cNvSpPr txBox="1"/>
          <p:nvPr/>
        </p:nvSpPr>
        <p:spPr>
          <a:xfrm>
            <a:off x="4043567" y="1555293"/>
            <a:ext cx="4440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689541-E797-C73D-C082-46C46F0C9946}"/>
              </a:ext>
            </a:extLst>
          </p:cNvPr>
          <p:cNvSpPr txBox="1"/>
          <p:nvPr/>
        </p:nvSpPr>
        <p:spPr>
          <a:xfrm>
            <a:off x="1594829" y="2599174"/>
            <a:ext cx="3830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Captured raw audio input.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0085D5-D33E-22DA-5BBE-221070214AEC}"/>
              </a:ext>
            </a:extLst>
          </p:cNvPr>
          <p:cNvSpPr/>
          <p:nvPr/>
        </p:nvSpPr>
        <p:spPr>
          <a:xfrm>
            <a:off x="2043231" y="2491243"/>
            <a:ext cx="2929900" cy="538400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D9DA0-A15F-C606-BC3C-895E3DE1F281}"/>
              </a:ext>
            </a:extLst>
          </p:cNvPr>
          <p:cNvSpPr txBox="1"/>
          <p:nvPr/>
        </p:nvSpPr>
        <p:spPr>
          <a:xfrm>
            <a:off x="1986028" y="3420130"/>
            <a:ext cx="3138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Extracted musical features (pitch, tempo, mood).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E76DBA-2826-0B8B-4E78-CE7F196CBB5C}"/>
              </a:ext>
            </a:extLst>
          </p:cNvPr>
          <p:cNvSpPr/>
          <p:nvPr/>
        </p:nvSpPr>
        <p:spPr>
          <a:xfrm>
            <a:off x="1939059" y="3304817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E2E4B1-C274-CA72-FC3C-CAABD3AFDB43}"/>
              </a:ext>
            </a:extLst>
          </p:cNvPr>
          <p:cNvSpPr txBox="1"/>
          <p:nvPr/>
        </p:nvSpPr>
        <p:spPr>
          <a:xfrm>
            <a:off x="1833021" y="4510701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Generated harmonically intelligent chord progressions.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CC417F-2176-4F74-096A-3A88A57C8E6F}"/>
              </a:ext>
            </a:extLst>
          </p:cNvPr>
          <p:cNvSpPr/>
          <p:nvPr/>
        </p:nvSpPr>
        <p:spPr>
          <a:xfrm>
            <a:off x="1939059" y="4395390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DD037F-B751-3B08-715C-7C1DC0045B18}"/>
              </a:ext>
            </a:extLst>
          </p:cNvPr>
          <p:cNvSpPr txBox="1"/>
          <p:nvPr/>
        </p:nvSpPr>
        <p:spPr>
          <a:xfrm>
            <a:off x="1821197" y="5601272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Converted output into structured MIDI format.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30B24E-2313-5719-3D47-7D9BDB93F0F4}"/>
              </a:ext>
            </a:extLst>
          </p:cNvPr>
          <p:cNvSpPr/>
          <p:nvPr/>
        </p:nvSpPr>
        <p:spPr>
          <a:xfrm>
            <a:off x="1927235" y="5485961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DEDE98-B227-8BAF-2DD6-81AA19E3AB52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3508181" y="3029643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61918C-88D2-02A4-4627-AC689E99EB6C}"/>
              </a:ext>
            </a:extLst>
          </p:cNvPr>
          <p:cNvCxnSpPr/>
          <p:nvPr/>
        </p:nvCxnSpPr>
        <p:spPr>
          <a:xfrm>
            <a:off x="3508181" y="4120216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3D2B006-C6C2-8880-6E93-1A37750B83B6}"/>
              </a:ext>
            </a:extLst>
          </p:cNvPr>
          <p:cNvCxnSpPr/>
          <p:nvPr/>
        </p:nvCxnSpPr>
        <p:spPr>
          <a:xfrm>
            <a:off x="3530827" y="5210789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D4C7B6-2093-5588-AA6A-A481FF312F57}"/>
              </a:ext>
            </a:extLst>
          </p:cNvPr>
          <p:cNvSpPr txBox="1"/>
          <p:nvPr/>
        </p:nvSpPr>
        <p:spPr>
          <a:xfrm>
            <a:off x="7218871" y="2598278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Routed multi-track output directly into DAW.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F1DB52F-519C-B706-CF8D-60492C21F45C}"/>
              </a:ext>
            </a:extLst>
          </p:cNvPr>
          <p:cNvSpPr/>
          <p:nvPr/>
        </p:nvSpPr>
        <p:spPr>
          <a:xfrm>
            <a:off x="7324909" y="2482967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DA3443-18D5-CE02-B036-18CCDC64AD62}"/>
              </a:ext>
            </a:extLst>
          </p:cNvPr>
          <p:cNvSpPr txBox="1"/>
          <p:nvPr/>
        </p:nvSpPr>
        <p:spPr>
          <a:xfrm>
            <a:off x="7218871" y="3712516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Implemented natural language refinement layer.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22492E7-1E82-5F87-3CF5-381584D3E546}"/>
              </a:ext>
            </a:extLst>
          </p:cNvPr>
          <p:cNvSpPr/>
          <p:nvPr/>
        </p:nvSpPr>
        <p:spPr>
          <a:xfrm>
            <a:off x="7324908" y="3597205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817135-FAB3-CDE8-BC34-B9180058D552}"/>
              </a:ext>
            </a:extLst>
          </p:cNvPr>
          <p:cNvSpPr txBox="1"/>
          <p:nvPr/>
        </p:nvSpPr>
        <p:spPr>
          <a:xfrm>
            <a:off x="7336732" y="4803088"/>
            <a:ext cx="3034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System runs locally without requiring internet after setup.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A959D88-E6A7-1A53-E661-A3DEC1B60A59}"/>
              </a:ext>
            </a:extLst>
          </p:cNvPr>
          <p:cNvSpPr/>
          <p:nvPr/>
        </p:nvSpPr>
        <p:spPr>
          <a:xfrm>
            <a:off x="7324908" y="4711441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C0B255C-EBE2-9550-83FE-C5A6C2A852AE}"/>
              </a:ext>
            </a:extLst>
          </p:cNvPr>
          <p:cNvCxnSpPr/>
          <p:nvPr/>
        </p:nvCxnSpPr>
        <p:spPr>
          <a:xfrm>
            <a:off x="8894030" y="3322031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D66C0C8-C4FB-483F-465F-DE776AB6BB14}"/>
              </a:ext>
            </a:extLst>
          </p:cNvPr>
          <p:cNvCxnSpPr/>
          <p:nvPr/>
        </p:nvCxnSpPr>
        <p:spPr>
          <a:xfrm>
            <a:off x="8894030" y="4422436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C1A9E6F4-00D8-1BA9-5D92-55FE8F0BF1E6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5065479" y="2890667"/>
            <a:ext cx="2259430" cy="3002994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1188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68B4D-C14F-EA6E-4608-2EC148A3A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7F6D31-D6D7-6B11-C0DA-D5C16658B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BC939AF-C80B-34BC-1982-5EAC34D364D6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B57A38A-7040-10E2-2C3E-9EBFD4F3301C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8D24B2-8045-ED1B-D362-A0E2C084D18D}"/>
              </a:ext>
            </a:extLst>
          </p:cNvPr>
          <p:cNvSpPr txBox="1"/>
          <p:nvPr/>
        </p:nvSpPr>
        <p:spPr>
          <a:xfrm>
            <a:off x="4043567" y="1555293"/>
            <a:ext cx="4440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D9467D-15BA-5957-2C99-156FDA4DE532}"/>
              </a:ext>
            </a:extLst>
          </p:cNvPr>
          <p:cNvSpPr txBox="1"/>
          <p:nvPr/>
        </p:nvSpPr>
        <p:spPr>
          <a:xfrm>
            <a:off x="1594829" y="2599174"/>
            <a:ext cx="3830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Captured raw audio input.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932BD4-3DD2-1C7E-6E58-E4110F282C09}"/>
              </a:ext>
            </a:extLst>
          </p:cNvPr>
          <p:cNvSpPr/>
          <p:nvPr/>
        </p:nvSpPr>
        <p:spPr>
          <a:xfrm>
            <a:off x="2043231" y="2491243"/>
            <a:ext cx="2929900" cy="538400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52E258-F4CB-BDDB-AAA1-C0E8E1DF840F}"/>
              </a:ext>
            </a:extLst>
          </p:cNvPr>
          <p:cNvSpPr txBox="1"/>
          <p:nvPr/>
        </p:nvSpPr>
        <p:spPr>
          <a:xfrm>
            <a:off x="1986028" y="3420130"/>
            <a:ext cx="3138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Extracted musical features (pitch, tempo, mood).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D055DC-EDBC-0725-2A45-554E321B8E4C}"/>
              </a:ext>
            </a:extLst>
          </p:cNvPr>
          <p:cNvSpPr/>
          <p:nvPr/>
        </p:nvSpPr>
        <p:spPr>
          <a:xfrm>
            <a:off x="1939059" y="3304817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841798-5BC5-FC54-AF43-52A05BEF9D2F}"/>
              </a:ext>
            </a:extLst>
          </p:cNvPr>
          <p:cNvSpPr txBox="1"/>
          <p:nvPr/>
        </p:nvSpPr>
        <p:spPr>
          <a:xfrm>
            <a:off x="1833021" y="4510701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Generated harmonically intelligent chord progressions.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F05AE1F-D702-99E9-BB9F-BECD36B4CDB1}"/>
              </a:ext>
            </a:extLst>
          </p:cNvPr>
          <p:cNvSpPr/>
          <p:nvPr/>
        </p:nvSpPr>
        <p:spPr>
          <a:xfrm>
            <a:off x="1939059" y="4395390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5C7262-3AA4-91D1-52F6-9B8EABE713CA}"/>
              </a:ext>
            </a:extLst>
          </p:cNvPr>
          <p:cNvSpPr txBox="1"/>
          <p:nvPr/>
        </p:nvSpPr>
        <p:spPr>
          <a:xfrm>
            <a:off x="1821197" y="5601272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Converted output into structured MIDI format.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A52E28-C120-83CF-93B6-25E4289DD339}"/>
              </a:ext>
            </a:extLst>
          </p:cNvPr>
          <p:cNvSpPr/>
          <p:nvPr/>
        </p:nvSpPr>
        <p:spPr>
          <a:xfrm>
            <a:off x="1927235" y="5485961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1AFE88-382D-3B97-9428-C54C223D22A7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3508181" y="3029643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C8E5F9-9E64-1607-BF8C-0C573D5AD446}"/>
              </a:ext>
            </a:extLst>
          </p:cNvPr>
          <p:cNvCxnSpPr/>
          <p:nvPr/>
        </p:nvCxnSpPr>
        <p:spPr>
          <a:xfrm>
            <a:off x="3508181" y="4120216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2FEA583-6332-4D8A-E90A-939D32505EBC}"/>
              </a:ext>
            </a:extLst>
          </p:cNvPr>
          <p:cNvCxnSpPr/>
          <p:nvPr/>
        </p:nvCxnSpPr>
        <p:spPr>
          <a:xfrm>
            <a:off x="3530827" y="5210789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5596866-7E65-38A5-C014-04FCA5EC940E}"/>
              </a:ext>
            </a:extLst>
          </p:cNvPr>
          <p:cNvSpPr txBox="1"/>
          <p:nvPr/>
        </p:nvSpPr>
        <p:spPr>
          <a:xfrm>
            <a:off x="7218871" y="2598278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Routed multi-track output directly into DAW.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3CAB5B2-9EAD-1A74-F211-86AE3B5BD042}"/>
              </a:ext>
            </a:extLst>
          </p:cNvPr>
          <p:cNvSpPr/>
          <p:nvPr/>
        </p:nvSpPr>
        <p:spPr>
          <a:xfrm>
            <a:off x="7324909" y="2482967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FDF7D6-D73B-C1DE-34E2-894BF5E9A8E6}"/>
              </a:ext>
            </a:extLst>
          </p:cNvPr>
          <p:cNvSpPr txBox="1"/>
          <p:nvPr/>
        </p:nvSpPr>
        <p:spPr>
          <a:xfrm>
            <a:off x="7218871" y="3712516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Implemented natural language refinement layer.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562577E-A613-0FEA-8B05-257D43A4F7B0}"/>
              </a:ext>
            </a:extLst>
          </p:cNvPr>
          <p:cNvSpPr/>
          <p:nvPr/>
        </p:nvSpPr>
        <p:spPr>
          <a:xfrm>
            <a:off x="7324908" y="3597205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324783-772F-8CD5-433E-18AC9C330B3C}"/>
              </a:ext>
            </a:extLst>
          </p:cNvPr>
          <p:cNvSpPr txBox="1"/>
          <p:nvPr/>
        </p:nvSpPr>
        <p:spPr>
          <a:xfrm>
            <a:off x="7336732" y="4803088"/>
            <a:ext cx="3034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System runs locally without requiring internet after setup.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78621FC-F221-9C8D-7967-FC14749248B7}"/>
              </a:ext>
            </a:extLst>
          </p:cNvPr>
          <p:cNvSpPr/>
          <p:nvPr/>
        </p:nvSpPr>
        <p:spPr>
          <a:xfrm>
            <a:off x="7324908" y="4711441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DCD0E8-31F3-5DB3-9956-60C1E670C340}"/>
              </a:ext>
            </a:extLst>
          </p:cNvPr>
          <p:cNvCxnSpPr/>
          <p:nvPr/>
        </p:nvCxnSpPr>
        <p:spPr>
          <a:xfrm>
            <a:off x="8894030" y="3322031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06B7C68-71A9-5CB9-6540-FA017FF1445A}"/>
              </a:ext>
            </a:extLst>
          </p:cNvPr>
          <p:cNvCxnSpPr/>
          <p:nvPr/>
        </p:nvCxnSpPr>
        <p:spPr>
          <a:xfrm>
            <a:off x="8894030" y="4422436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D1EAD908-1A21-7B69-3B3E-F40362998416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5065479" y="2890667"/>
            <a:ext cx="2259430" cy="3002994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6656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8EC75-0458-F02C-2367-0A9C2428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BD3A59-8830-5528-2CEC-4B2AA416B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24E56D1-78BA-34BE-C33F-EEB429DF7A1F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69390B-5CFE-B7CD-9C9C-9D871F9FB7EC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0D546-B64F-E0BB-8938-D42084DB0E57}"/>
              </a:ext>
            </a:extLst>
          </p:cNvPr>
          <p:cNvSpPr txBox="1"/>
          <p:nvPr/>
        </p:nvSpPr>
        <p:spPr>
          <a:xfrm>
            <a:off x="4043567" y="1555293"/>
            <a:ext cx="4440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3342CB-3B4C-4A35-C946-3CFC3968DDFF}"/>
              </a:ext>
            </a:extLst>
          </p:cNvPr>
          <p:cNvSpPr txBox="1"/>
          <p:nvPr/>
        </p:nvSpPr>
        <p:spPr>
          <a:xfrm>
            <a:off x="1594829" y="2599174"/>
            <a:ext cx="3830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Captured raw audio input.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16514C-2EBA-E4F6-450F-18B54166527C}"/>
              </a:ext>
            </a:extLst>
          </p:cNvPr>
          <p:cNvSpPr/>
          <p:nvPr/>
        </p:nvSpPr>
        <p:spPr>
          <a:xfrm>
            <a:off x="2043231" y="2491243"/>
            <a:ext cx="2929900" cy="538400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26574-6118-B338-946D-F801323FB596}"/>
              </a:ext>
            </a:extLst>
          </p:cNvPr>
          <p:cNvSpPr txBox="1"/>
          <p:nvPr/>
        </p:nvSpPr>
        <p:spPr>
          <a:xfrm>
            <a:off x="1986028" y="3420130"/>
            <a:ext cx="3138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Extracted musical features (pitch, tempo, mood).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A5ED80-EFB3-3449-7E39-0D6933FD6B0E}"/>
              </a:ext>
            </a:extLst>
          </p:cNvPr>
          <p:cNvSpPr/>
          <p:nvPr/>
        </p:nvSpPr>
        <p:spPr>
          <a:xfrm>
            <a:off x="1939059" y="3304817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04C1F2-6ECA-5808-A6F8-070E1EDA3BB4}"/>
              </a:ext>
            </a:extLst>
          </p:cNvPr>
          <p:cNvSpPr txBox="1"/>
          <p:nvPr/>
        </p:nvSpPr>
        <p:spPr>
          <a:xfrm>
            <a:off x="1833021" y="4510701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Generated harmonically intelligent chord progressions.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7FF7E62-EB17-9753-DBF9-9DDACECCB579}"/>
              </a:ext>
            </a:extLst>
          </p:cNvPr>
          <p:cNvSpPr/>
          <p:nvPr/>
        </p:nvSpPr>
        <p:spPr>
          <a:xfrm>
            <a:off x="1939059" y="4395390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00EE04-174C-322F-A5C7-7FD59DF1CA86}"/>
              </a:ext>
            </a:extLst>
          </p:cNvPr>
          <p:cNvSpPr txBox="1"/>
          <p:nvPr/>
        </p:nvSpPr>
        <p:spPr>
          <a:xfrm>
            <a:off x="1821197" y="5601272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Converted output into structured MIDI format.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3C6C36-7033-F4B3-97CC-EFE6D8B2E283}"/>
              </a:ext>
            </a:extLst>
          </p:cNvPr>
          <p:cNvSpPr/>
          <p:nvPr/>
        </p:nvSpPr>
        <p:spPr>
          <a:xfrm>
            <a:off x="1927235" y="5485961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6F75DC-1198-8347-9BF8-DF03B903C8B8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3508181" y="3029643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0F8526-7D3B-92B7-9654-C841280E1DB8}"/>
              </a:ext>
            </a:extLst>
          </p:cNvPr>
          <p:cNvCxnSpPr/>
          <p:nvPr/>
        </p:nvCxnSpPr>
        <p:spPr>
          <a:xfrm>
            <a:off x="3508181" y="4120216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4D1F54-D3A9-563A-78B4-999CBFA6879E}"/>
              </a:ext>
            </a:extLst>
          </p:cNvPr>
          <p:cNvCxnSpPr/>
          <p:nvPr/>
        </p:nvCxnSpPr>
        <p:spPr>
          <a:xfrm>
            <a:off x="3530827" y="5210789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5003576-1197-C96D-0D67-202D31ED1582}"/>
              </a:ext>
            </a:extLst>
          </p:cNvPr>
          <p:cNvSpPr txBox="1"/>
          <p:nvPr/>
        </p:nvSpPr>
        <p:spPr>
          <a:xfrm>
            <a:off x="7218871" y="2598278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Routed multi-track output directly into DAW.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A5730DF-3DC9-F9BC-255A-E23606B8A7F9}"/>
              </a:ext>
            </a:extLst>
          </p:cNvPr>
          <p:cNvSpPr/>
          <p:nvPr/>
        </p:nvSpPr>
        <p:spPr>
          <a:xfrm>
            <a:off x="7324909" y="2482967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3EF6E4-40F4-3DC0-DC0E-21AC134860D9}"/>
              </a:ext>
            </a:extLst>
          </p:cNvPr>
          <p:cNvSpPr txBox="1"/>
          <p:nvPr/>
        </p:nvSpPr>
        <p:spPr>
          <a:xfrm>
            <a:off x="7218871" y="3712516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Implemented natural language refinement layer.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4F60860-B25F-AC23-28CE-069D3D8A62D7}"/>
              </a:ext>
            </a:extLst>
          </p:cNvPr>
          <p:cNvSpPr/>
          <p:nvPr/>
        </p:nvSpPr>
        <p:spPr>
          <a:xfrm>
            <a:off x="7324908" y="3597205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9BC018-EDF6-6A03-7B37-73F36E53656B}"/>
              </a:ext>
            </a:extLst>
          </p:cNvPr>
          <p:cNvSpPr txBox="1"/>
          <p:nvPr/>
        </p:nvSpPr>
        <p:spPr>
          <a:xfrm>
            <a:off x="7336732" y="4803088"/>
            <a:ext cx="3034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System runs locally without requiring internet after setup.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C931256-26CD-B780-8CC3-DF6816200034}"/>
              </a:ext>
            </a:extLst>
          </p:cNvPr>
          <p:cNvSpPr/>
          <p:nvPr/>
        </p:nvSpPr>
        <p:spPr>
          <a:xfrm>
            <a:off x="7324908" y="4711441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8B7FF3-4C75-6246-DDFD-E6AFF8F022E4}"/>
              </a:ext>
            </a:extLst>
          </p:cNvPr>
          <p:cNvCxnSpPr/>
          <p:nvPr/>
        </p:nvCxnSpPr>
        <p:spPr>
          <a:xfrm>
            <a:off x="8894030" y="3322031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5ABD88E-9644-3291-A231-A6C5CDE32246}"/>
              </a:ext>
            </a:extLst>
          </p:cNvPr>
          <p:cNvCxnSpPr/>
          <p:nvPr/>
        </p:nvCxnSpPr>
        <p:spPr>
          <a:xfrm>
            <a:off x="8894030" y="4422436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D0B1D328-09C3-B049-548A-0E1243B685BB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5065479" y="2890667"/>
            <a:ext cx="2259430" cy="3002994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8281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230488-71A0-EB3E-0FC1-D54A087A1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6ED662-ED0F-339B-09EB-AE7292991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9444579-255F-3FFA-5FE4-8134CD03E4B0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8880228-8EF1-891F-FFF7-4A599BE92678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2707A0-2AD5-78BB-F632-A2359723E422}"/>
              </a:ext>
            </a:extLst>
          </p:cNvPr>
          <p:cNvSpPr txBox="1"/>
          <p:nvPr/>
        </p:nvSpPr>
        <p:spPr>
          <a:xfrm>
            <a:off x="4043567" y="1555293"/>
            <a:ext cx="4440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5D9B8-D748-8F9E-109E-3022DA3E331B}"/>
              </a:ext>
            </a:extLst>
          </p:cNvPr>
          <p:cNvSpPr txBox="1"/>
          <p:nvPr/>
        </p:nvSpPr>
        <p:spPr>
          <a:xfrm>
            <a:off x="1594829" y="2599174"/>
            <a:ext cx="3830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Captured raw audio input.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C4CD10-8BCB-AA44-D67F-F4A953605E25}"/>
              </a:ext>
            </a:extLst>
          </p:cNvPr>
          <p:cNvSpPr/>
          <p:nvPr/>
        </p:nvSpPr>
        <p:spPr>
          <a:xfrm>
            <a:off x="2043231" y="2491243"/>
            <a:ext cx="2929900" cy="538400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518180-A4EB-8CF6-732C-4D26E8085781}"/>
              </a:ext>
            </a:extLst>
          </p:cNvPr>
          <p:cNvSpPr txBox="1"/>
          <p:nvPr/>
        </p:nvSpPr>
        <p:spPr>
          <a:xfrm>
            <a:off x="1986028" y="3420130"/>
            <a:ext cx="3138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Extracted musical features (pitch, tempo, mood).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6A8DDF-86D9-E4B1-B3CC-27E5C77112E2}"/>
              </a:ext>
            </a:extLst>
          </p:cNvPr>
          <p:cNvSpPr/>
          <p:nvPr/>
        </p:nvSpPr>
        <p:spPr>
          <a:xfrm>
            <a:off x="1939059" y="3304817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2573DB-0DE0-F625-F46C-6D138E3C2D38}"/>
              </a:ext>
            </a:extLst>
          </p:cNvPr>
          <p:cNvSpPr txBox="1"/>
          <p:nvPr/>
        </p:nvSpPr>
        <p:spPr>
          <a:xfrm>
            <a:off x="1833021" y="4510701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Generated harmonically intelligent chord progressions.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DB34E7D-2FBF-0D9B-3408-CCF0955C5138}"/>
              </a:ext>
            </a:extLst>
          </p:cNvPr>
          <p:cNvSpPr/>
          <p:nvPr/>
        </p:nvSpPr>
        <p:spPr>
          <a:xfrm>
            <a:off x="1939059" y="4395390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92B87-4B94-76D6-A118-3D9DDCE2AE15}"/>
              </a:ext>
            </a:extLst>
          </p:cNvPr>
          <p:cNvSpPr txBox="1"/>
          <p:nvPr/>
        </p:nvSpPr>
        <p:spPr>
          <a:xfrm>
            <a:off x="1821197" y="5601272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Converted output into structured MIDI format.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0414BB-A47F-F142-D15F-9A4B18775503}"/>
              </a:ext>
            </a:extLst>
          </p:cNvPr>
          <p:cNvSpPr/>
          <p:nvPr/>
        </p:nvSpPr>
        <p:spPr>
          <a:xfrm>
            <a:off x="1927235" y="5485961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202452-A61D-14AB-452B-72B86EF67F1A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3508181" y="3029643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33B1E80-D450-C229-C375-4AE7D5825479}"/>
              </a:ext>
            </a:extLst>
          </p:cNvPr>
          <p:cNvCxnSpPr/>
          <p:nvPr/>
        </p:nvCxnSpPr>
        <p:spPr>
          <a:xfrm>
            <a:off x="3508181" y="4120216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24919A-EA20-A48B-FA81-40F198648686}"/>
              </a:ext>
            </a:extLst>
          </p:cNvPr>
          <p:cNvCxnSpPr/>
          <p:nvPr/>
        </p:nvCxnSpPr>
        <p:spPr>
          <a:xfrm>
            <a:off x="3530827" y="5210789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AE202AC-AE93-DD71-1172-7A0FE1A8AD7C}"/>
              </a:ext>
            </a:extLst>
          </p:cNvPr>
          <p:cNvSpPr txBox="1"/>
          <p:nvPr/>
        </p:nvSpPr>
        <p:spPr>
          <a:xfrm>
            <a:off x="7218871" y="2598278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Routed multi-track output directly into DAW.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29E3F3E-BBE9-7859-9305-F9C1C2D9FA41}"/>
              </a:ext>
            </a:extLst>
          </p:cNvPr>
          <p:cNvSpPr/>
          <p:nvPr/>
        </p:nvSpPr>
        <p:spPr>
          <a:xfrm>
            <a:off x="7324909" y="2482967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CE8D75-9053-6AE1-483E-723DA1AAA8F4}"/>
              </a:ext>
            </a:extLst>
          </p:cNvPr>
          <p:cNvSpPr txBox="1"/>
          <p:nvPr/>
        </p:nvSpPr>
        <p:spPr>
          <a:xfrm>
            <a:off x="7218871" y="3712516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Implemented natural language refinement layer.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7F78572-6DB9-4866-C359-01D8BFD25A9E}"/>
              </a:ext>
            </a:extLst>
          </p:cNvPr>
          <p:cNvSpPr/>
          <p:nvPr/>
        </p:nvSpPr>
        <p:spPr>
          <a:xfrm>
            <a:off x="7324908" y="3597205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D24CE1-EB05-DF46-17A6-85177CDA63B8}"/>
              </a:ext>
            </a:extLst>
          </p:cNvPr>
          <p:cNvSpPr txBox="1"/>
          <p:nvPr/>
        </p:nvSpPr>
        <p:spPr>
          <a:xfrm>
            <a:off x="7336732" y="4803088"/>
            <a:ext cx="3034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System runs locally without requiring internet after setup.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24750DB-1F92-A6BB-6B27-8AE7F07C576D}"/>
              </a:ext>
            </a:extLst>
          </p:cNvPr>
          <p:cNvSpPr/>
          <p:nvPr/>
        </p:nvSpPr>
        <p:spPr>
          <a:xfrm>
            <a:off x="7324908" y="4711441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865B7DC-7AF8-B1E4-1582-0E4516C4CC19}"/>
              </a:ext>
            </a:extLst>
          </p:cNvPr>
          <p:cNvCxnSpPr/>
          <p:nvPr/>
        </p:nvCxnSpPr>
        <p:spPr>
          <a:xfrm>
            <a:off x="8894030" y="3322031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6B35DC7-DD44-4F7C-DD86-AE0B6B506B88}"/>
              </a:ext>
            </a:extLst>
          </p:cNvPr>
          <p:cNvCxnSpPr/>
          <p:nvPr/>
        </p:nvCxnSpPr>
        <p:spPr>
          <a:xfrm>
            <a:off x="8894030" y="4422436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23B5D673-DED3-A9B7-4B05-0ECFB095E1F6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5065479" y="2890667"/>
            <a:ext cx="2259430" cy="3002994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998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02229B-7E03-F65C-2CE3-62A0BDE61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3A6498-DE3F-6CA2-74FB-301547DB8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75FE7BA-1B69-F5B0-794E-9A53CD851A64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0CFA9A-FDDC-15F4-3E4B-B7A8FBC03008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A8DBE-1F65-C0D4-4939-1269F27A85DE}"/>
              </a:ext>
            </a:extLst>
          </p:cNvPr>
          <p:cNvSpPr txBox="1"/>
          <p:nvPr/>
        </p:nvSpPr>
        <p:spPr>
          <a:xfrm>
            <a:off x="4043567" y="1555293"/>
            <a:ext cx="4440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2C3FC-3EFE-33FE-9FDB-D2D6575108F0}"/>
              </a:ext>
            </a:extLst>
          </p:cNvPr>
          <p:cNvSpPr txBox="1"/>
          <p:nvPr/>
        </p:nvSpPr>
        <p:spPr>
          <a:xfrm>
            <a:off x="1594829" y="2599174"/>
            <a:ext cx="3830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Captured raw audio input.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A4F56B-5D3B-EB61-15B6-5F5C8E146AB6}"/>
              </a:ext>
            </a:extLst>
          </p:cNvPr>
          <p:cNvSpPr/>
          <p:nvPr/>
        </p:nvSpPr>
        <p:spPr>
          <a:xfrm>
            <a:off x="2043231" y="2491243"/>
            <a:ext cx="2929900" cy="538400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96117-FEC7-C5C3-5A2A-2BA7CE871E73}"/>
              </a:ext>
            </a:extLst>
          </p:cNvPr>
          <p:cNvSpPr txBox="1"/>
          <p:nvPr/>
        </p:nvSpPr>
        <p:spPr>
          <a:xfrm>
            <a:off x="1986028" y="3420130"/>
            <a:ext cx="3138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Extracted musical features (pitch, tempo, mood).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1EB2B0-8D42-89ED-0475-5918FDDF45ED}"/>
              </a:ext>
            </a:extLst>
          </p:cNvPr>
          <p:cNvSpPr/>
          <p:nvPr/>
        </p:nvSpPr>
        <p:spPr>
          <a:xfrm>
            <a:off x="1939059" y="3304817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743532-FF93-D466-F0F4-08D870D44EEB}"/>
              </a:ext>
            </a:extLst>
          </p:cNvPr>
          <p:cNvSpPr txBox="1"/>
          <p:nvPr/>
        </p:nvSpPr>
        <p:spPr>
          <a:xfrm>
            <a:off x="1833021" y="4510701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Generated harmonically intelligent chord progressions.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8A7C9C-5692-0C01-1EDB-DD27085A0DE6}"/>
              </a:ext>
            </a:extLst>
          </p:cNvPr>
          <p:cNvSpPr/>
          <p:nvPr/>
        </p:nvSpPr>
        <p:spPr>
          <a:xfrm>
            <a:off x="1939059" y="4395390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DD734D-3E30-9C9F-F535-DCB58FD5CB0A}"/>
              </a:ext>
            </a:extLst>
          </p:cNvPr>
          <p:cNvSpPr txBox="1"/>
          <p:nvPr/>
        </p:nvSpPr>
        <p:spPr>
          <a:xfrm>
            <a:off x="1821197" y="5601272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Converted output into structured MIDI format.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8AF9EB-CD27-31CD-2142-198BBC09EAB2}"/>
              </a:ext>
            </a:extLst>
          </p:cNvPr>
          <p:cNvSpPr/>
          <p:nvPr/>
        </p:nvSpPr>
        <p:spPr>
          <a:xfrm>
            <a:off x="1927235" y="5485961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E3CA55-217F-A7C3-DEE2-ED8864B2CB13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3508181" y="3029643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41FCB3-4BBA-B273-108F-85371120A49C}"/>
              </a:ext>
            </a:extLst>
          </p:cNvPr>
          <p:cNvCxnSpPr/>
          <p:nvPr/>
        </p:nvCxnSpPr>
        <p:spPr>
          <a:xfrm>
            <a:off x="3508181" y="4120216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F05483-D4B8-3A9C-534D-45EFF18D4469}"/>
              </a:ext>
            </a:extLst>
          </p:cNvPr>
          <p:cNvCxnSpPr/>
          <p:nvPr/>
        </p:nvCxnSpPr>
        <p:spPr>
          <a:xfrm>
            <a:off x="3530827" y="5210789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BCF8D0B-ACC0-B968-223C-E2BBCAEF59F0}"/>
              </a:ext>
            </a:extLst>
          </p:cNvPr>
          <p:cNvSpPr txBox="1"/>
          <p:nvPr/>
        </p:nvSpPr>
        <p:spPr>
          <a:xfrm>
            <a:off x="7218871" y="2598278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Routed multi-track output directly into DAW.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21F8AFD-D0CD-7E32-4842-658EC8519D02}"/>
              </a:ext>
            </a:extLst>
          </p:cNvPr>
          <p:cNvSpPr/>
          <p:nvPr/>
        </p:nvSpPr>
        <p:spPr>
          <a:xfrm>
            <a:off x="7324909" y="2482967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C55D2D-8D0A-3F9D-7222-176192AEFE5B}"/>
              </a:ext>
            </a:extLst>
          </p:cNvPr>
          <p:cNvSpPr txBox="1"/>
          <p:nvPr/>
        </p:nvSpPr>
        <p:spPr>
          <a:xfrm>
            <a:off x="7218871" y="3712516"/>
            <a:ext cx="33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Implemented natural language refinement layer.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E399AE-5517-AD63-D05B-2D0AC47CD7E2}"/>
              </a:ext>
            </a:extLst>
          </p:cNvPr>
          <p:cNvSpPr/>
          <p:nvPr/>
        </p:nvSpPr>
        <p:spPr>
          <a:xfrm>
            <a:off x="7324908" y="3597205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B93902-718B-86D3-C79B-689001046DAB}"/>
              </a:ext>
            </a:extLst>
          </p:cNvPr>
          <p:cNvSpPr txBox="1"/>
          <p:nvPr/>
        </p:nvSpPr>
        <p:spPr>
          <a:xfrm>
            <a:off x="7336732" y="4803088"/>
            <a:ext cx="3034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System runs locally without requiring internet after setup.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6529E65-D09D-E7D0-E206-76A8393B80CE}"/>
              </a:ext>
            </a:extLst>
          </p:cNvPr>
          <p:cNvSpPr/>
          <p:nvPr/>
        </p:nvSpPr>
        <p:spPr>
          <a:xfrm>
            <a:off x="7324908" y="4711441"/>
            <a:ext cx="3138244" cy="815399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3F88C29-3429-5A11-E4D6-3F77EFD9346A}"/>
              </a:ext>
            </a:extLst>
          </p:cNvPr>
          <p:cNvCxnSpPr/>
          <p:nvPr/>
        </p:nvCxnSpPr>
        <p:spPr>
          <a:xfrm>
            <a:off x="8894030" y="3322031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C011B98-80D1-D668-5041-5624CD117C91}"/>
              </a:ext>
            </a:extLst>
          </p:cNvPr>
          <p:cNvCxnSpPr/>
          <p:nvPr/>
        </p:nvCxnSpPr>
        <p:spPr>
          <a:xfrm>
            <a:off x="8894030" y="4422436"/>
            <a:ext cx="0" cy="275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84814C8-0D3E-E744-3704-1AFF522EC668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5065479" y="2890667"/>
            <a:ext cx="2259430" cy="3002994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925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8AA79A-BE7D-524D-49A0-8541228C6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EF8D66-24E1-F55C-1EFD-EC93EB029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9947375-47C5-0890-C95B-A58010869F1C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7B347E7-6998-1D51-44BC-07281C642822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CBF6F94-0D56-1A00-F297-F0A19E24D884}"/>
              </a:ext>
            </a:extLst>
          </p:cNvPr>
          <p:cNvSpPr/>
          <p:nvPr/>
        </p:nvSpPr>
        <p:spPr>
          <a:xfrm>
            <a:off x="1462548" y="2419555"/>
            <a:ext cx="8908026" cy="1376234"/>
          </a:xfrm>
          <a:prstGeom prst="roundRect">
            <a:avLst/>
          </a:prstGeom>
          <a:solidFill>
            <a:schemeClr val="accent5">
              <a:lumMod val="75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1C5CBE-9566-7002-87F9-A6C9099A61DC}"/>
              </a:ext>
            </a:extLst>
          </p:cNvPr>
          <p:cNvSpPr txBox="1"/>
          <p:nvPr/>
        </p:nvSpPr>
        <p:spPr>
          <a:xfrm>
            <a:off x="2506979" y="1532757"/>
            <a:ext cx="71780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UNIQUENESS &amp; INNOVATION FACTOR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34F7B6-B322-1635-A8F9-07A24E4C99AF}"/>
              </a:ext>
            </a:extLst>
          </p:cNvPr>
          <p:cNvSpPr txBox="1"/>
          <p:nvPr/>
        </p:nvSpPr>
        <p:spPr>
          <a:xfrm>
            <a:off x="1558412" y="2507508"/>
            <a:ext cx="9075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Intent-Aware Music Understanding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Unlike basic audio-to-MIDI tools, our system does not only detect notes.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It analyses key, tempo, melodic structure, and emotional tone to generate harmonies that match the feeling of the melody.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7CEF24-FEBC-5B37-A271-BD889CB0F74F}"/>
              </a:ext>
            </a:extLst>
          </p:cNvPr>
          <p:cNvSpPr txBox="1"/>
          <p:nvPr/>
        </p:nvSpPr>
        <p:spPr>
          <a:xfrm>
            <a:off x="1558412" y="4147450"/>
            <a:ext cx="87162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Automatic Harmony from Melody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The system intelligently generates chord progressions based on tonal analysis of the hummed input.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This removes the need for advanced music theory knowledge and significantly speeds up production workflow.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60378"/>
      </p:ext>
    </p:extLst>
  </p:cSld>
  <p:clrMapOvr>
    <a:masterClrMapping/>
  </p:clrMapOvr>
  <p:transition spd="med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24750-B84D-CD2A-81E6-C91263CF7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3534AD-359F-8270-B546-A96B6A873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EF6600-419F-E300-3722-01BDAE9783DB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13E921D-CF88-0283-B7F4-1390A5A0D925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065AC-4CF1-F4DF-3420-A21F01DBF8AA}"/>
              </a:ext>
            </a:extLst>
          </p:cNvPr>
          <p:cNvSpPr txBox="1"/>
          <p:nvPr/>
        </p:nvSpPr>
        <p:spPr>
          <a:xfrm>
            <a:off x="2506979" y="1532757"/>
            <a:ext cx="71780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UNIQUENESS &amp; INNOVATION FACTOR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A82BD7-9AC6-DEF2-71F0-3560CD062AE3}"/>
              </a:ext>
            </a:extLst>
          </p:cNvPr>
          <p:cNvSpPr txBox="1"/>
          <p:nvPr/>
        </p:nvSpPr>
        <p:spPr>
          <a:xfrm>
            <a:off x="1558412" y="2507508"/>
            <a:ext cx="9075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Intent-Aware Music Understanding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Unlike basic audio-to-MIDI tools, our system does not only detect notes.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It analyses key, tempo, melodic structure, and emotional tone to generate harmonies that match the feeling of the melody.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432F737-8F7E-DAE8-EF9F-369DC9B0415F}"/>
              </a:ext>
            </a:extLst>
          </p:cNvPr>
          <p:cNvSpPr/>
          <p:nvPr/>
        </p:nvSpPr>
        <p:spPr>
          <a:xfrm>
            <a:off x="1462548" y="4106054"/>
            <a:ext cx="8908026" cy="1564366"/>
          </a:xfrm>
          <a:prstGeom prst="roundRect">
            <a:avLst/>
          </a:prstGeom>
          <a:solidFill>
            <a:schemeClr val="accent5">
              <a:lumMod val="75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161006-0D27-4DB5-C716-BBD62754A28B}"/>
              </a:ext>
            </a:extLst>
          </p:cNvPr>
          <p:cNvSpPr txBox="1"/>
          <p:nvPr/>
        </p:nvSpPr>
        <p:spPr>
          <a:xfrm>
            <a:off x="1558412" y="4147450"/>
            <a:ext cx="87162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Automatic Harmony from Melody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The system intelligently generates chord progressions based on tonal analysis of the hummed input.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This removes the need for advanced music theory knowledge and significantly speeds up production workflow.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1726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65915-A293-DDA7-B10E-982A57093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DC4307-141B-99D6-AAA2-4F779F536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3D8A945-C16C-F5EC-B890-2686277B9C84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6B17FC0-8700-2630-8353-9C23F5AD750D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7949D-0558-E069-BC1B-242B02D8D993}"/>
              </a:ext>
            </a:extLst>
          </p:cNvPr>
          <p:cNvSpPr txBox="1"/>
          <p:nvPr/>
        </p:nvSpPr>
        <p:spPr>
          <a:xfrm>
            <a:off x="2506979" y="1532757"/>
            <a:ext cx="71780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UNIQUENESS &amp; INNOVATION FACTOR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AF1C3A-588D-8763-D7B5-9A40D41FE560}"/>
              </a:ext>
            </a:extLst>
          </p:cNvPr>
          <p:cNvSpPr/>
          <p:nvPr/>
        </p:nvSpPr>
        <p:spPr>
          <a:xfrm>
            <a:off x="1462548" y="2419555"/>
            <a:ext cx="8908026" cy="1376234"/>
          </a:xfrm>
          <a:prstGeom prst="roundRect">
            <a:avLst/>
          </a:prstGeom>
          <a:solidFill>
            <a:schemeClr val="accent5">
              <a:lumMod val="75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C6D1C6-9C1A-8BB7-C3D7-393FD0EA60B4}"/>
              </a:ext>
            </a:extLst>
          </p:cNvPr>
          <p:cNvSpPr txBox="1"/>
          <p:nvPr/>
        </p:nvSpPr>
        <p:spPr>
          <a:xfrm>
            <a:off x="1558412" y="2507508"/>
            <a:ext cx="880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Direct DAW-Native Output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Instead of generating a finished audio file, Empath produces structured multi-track MIDI and sends it directly into FL Studio.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This ensures full creative control remains with the producer.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F37F45-08A0-C9A1-6B5E-3572ADF4C2AC}"/>
              </a:ext>
            </a:extLst>
          </p:cNvPr>
          <p:cNvSpPr txBox="1"/>
          <p:nvPr/>
        </p:nvSpPr>
        <p:spPr>
          <a:xfrm>
            <a:off x="1558412" y="4147450"/>
            <a:ext cx="87162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Conversational Refinement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Users can modify arrangements using natural language instructions like : “Make this darker”, “Add variation”.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This bridges AI reasoning with human creativity.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6444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5592C4-EA9C-2E04-F5C3-C73574EC5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9F2906-D1FC-DED8-E5DE-2D4BF7132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D3F1504-5D46-82A3-30F7-3C820A9FE3C0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98C6872-B4E8-8F85-3253-6E7D7104835B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50987-EACF-C64C-74F3-A0BB50292FD9}"/>
              </a:ext>
            </a:extLst>
          </p:cNvPr>
          <p:cNvSpPr txBox="1"/>
          <p:nvPr/>
        </p:nvSpPr>
        <p:spPr>
          <a:xfrm>
            <a:off x="2506979" y="1532757"/>
            <a:ext cx="71780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UNIQUENESS &amp; INNOVATION FACTOR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5DB1D9-26E6-7E69-3935-E2792400721E}"/>
              </a:ext>
            </a:extLst>
          </p:cNvPr>
          <p:cNvSpPr txBox="1"/>
          <p:nvPr/>
        </p:nvSpPr>
        <p:spPr>
          <a:xfrm>
            <a:off x="1558412" y="2507508"/>
            <a:ext cx="880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Direct DAW-Native Output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Instead of generating a finished audio file, Empath produces structured multi-track MIDI and sends it directly into FL Studio.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This ensures full creative control remains with the producer.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932D9C-FE14-E6DE-9F8B-84C52CFB4B78}"/>
              </a:ext>
            </a:extLst>
          </p:cNvPr>
          <p:cNvSpPr/>
          <p:nvPr/>
        </p:nvSpPr>
        <p:spPr>
          <a:xfrm>
            <a:off x="1455174" y="4064851"/>
            <a:ext cx="8908026" cy="1376234"/>
          </a:xfrm>
          <a:prstGeom prst="roundRect">
            <a:avLst/>
          </a:prstGeom>
          <a:solidFill>
            <a:schemeClr val="accent5">
              <a:lumMod val="75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9C937C-C24F-38A1-EC38-F1B0C8B5BC14}"/>
              </a:ext>
            </a:extLst>
          </p:cNvPr>
          <p:cNvSpPr txBox="1"/>
          <p:nvPr/>
        </p:nvSpPr>
        <p:spPr>
          <a:xfrm>
            <a:off x="1558412" y="4147450"/>
            <a:ext cx="87162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Conversational Refinement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Users can modify arrangements using natural language instructions like : “Make this darker”, “Add variation”.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This bridges AI reasoning with human creativity.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7828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0B3E0F-2FB6-42E7-D235-D0F77DAC5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69A625-F77D-D987-FCB4-F8B28BBD0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C91842A-D9B6-1F41-F4CC-C8E3C96ABC77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78E844-6FC0-D976-6914-F4041E001A00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760F8F-2B93-6B5B-1EE4-B9397D41746A}"/>
              </a:ext>
            </a:extLst>
          </p:cNvPr>
          <p:cNvSpPr txBox="1"/>
          <p:nvPr/>
        </p:nvSpPr>
        <p:spPr>
          <a:xfrm>
            <a:off x="2674620" y="1532757"/>
            <a:ext cx="71780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FEASIBILITY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0C505-624F-2670-0923-91BCA610E5AE}"/>
              </a:ext>
            </a:extLst>
          </p:cNvPr>
          <p:cNvSpPr txBox="1"/>
          <p:nvPr/>
        </p:nvSpPr>
        <p:spPr>
          <a:xfrm>
            <a:off x="1415845" y="2337614"/>
            <a:ext cx="76691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Built using open-source AI technologies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Modular pipeline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Runs locally on consumer GPU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Designed for scalable expansion to other DAWs</a:t>
            </a:r>
          </a:p>
          <a:p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The core pipeline prototype has been successfully implemented and tested.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ED0993-46D3-B9AD-FB97-73CA69A3E535}"/>
              </a:ext>
            </a:extLst>
          </p:cNvPr>
          <p:cNvSpPr/>
          <p:nvPr/>
        </p:nvSpPr>
        <p:spPr>
          <a:xfrm>
            <a:off x="970391" y="3889376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6EDC1F-51E7-A04F-B8E7-B61D3952E3BC}"/>
              </a:ext>
            </a:extLst>
          </p:cNvPr>
          <p:cNvSpPr txBox="1"/>
          <p:nvPr/>
        </p:nvSpPr>
        <p:spPr>
          <a:xfrm>
            <a:off x="2674620" y="3911912"/>
            <a:ext cx="71780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CHALLENGES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9FE290-C05B-C658-9929-166DC712C73D}"/>
              </a:ext>
            </a:extLst>
          </p:cNvPr>
          <p:cNvSpPr txBox="1"/>
          <p:nvPr/>
        </p:nvSpPr>
        <p:spPr>
          <a:xfrm>
            <a:off x="1179870" y="4716769"/>
            <a:ext cx="81411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Aligning pitch detection with accurate harmony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Ensuring musical coherence in chord progression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Converting symbolic output into clean MIDI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Managing processing latency during local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Seamless integration with FL Studio via virtual routing</a:t>
            </a:r>
          </a:p>
        </p:txBody>
      </p:sp>
    </p:spTree>
    <p:extLst>
      <p:ext uri="{BB962C8B-B14F-4D97-AF65-F5344CB8AC3E}">
        <p14:creationId xmlns:p14="http://schemas.microsoft.com/office/powerpoint/2010/main" val="1408435974"/>
      </p:ext>
    </p:extLst>
  </p:cSld>
  <p:clrMapOvr>
    <a:masterClrMapping/>
  </p:clrMapOvr>
  <p:transition spd="slow">
    <p:cov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0F0AB-9684-1C55-A424-E2B4A2E4E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94A017-69BB-1E32-7A87-80267260E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F05D169-C13B-D59C-F0BE-AD461915FC5F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043BE5-48AF-D922-99BD-370F961DFD69}"/>
              </a:ext>
            </a:extLst>
          </p:cNvPr>
          <p:cNvSpPr/>
          <p:nvPr/>
        </p:nvSpPr>
        <p:spPr>
          <a:xfrm>
            <a:off x="970391" y="151022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F36E57-45F5-3591-AE23-CD01E262F7AB}"/>
              </a:ext>
            </a:extLst>
          </p:cNvPr>
          <p:cNvSpPr txBox="1"/>
          <p:nvPr/>
        </p:nvSpPr>
        <p:spPr>
          <a:xfrm>
            <a:off x="2674620" y="1532757"/>
            <a:ext cx="71780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RESEARCH &amp; REFERENCE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21BB73-6650-CD94-216B-34CB28F29F98}"/>
              </a:ext>
            </a:extLst>
          </p:cNvPr>
          <p:cNvSpPr txBox="1"/>
          <p:nvPr/>
        </p:nvSpPr>
        <p:spPr>
          <a:xfrm>
            <a:off x="1270000" y="2428240"/>
            <a:ext cx="94894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AI-based music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Melody-to-harmony generation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MIDI representation and structuring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Human-AI interaction in creative 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Real-time audio processing systems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F8D636-FEE3-0E1D-5C4B-51025DE9D2BF}"/>
              </a:ext>
            </a:extLst>
          </p:cNvPr>
          <p:cNvSpPr txBox="1"/>
          <p:nvPr/>
        </p:nvSpPr>
        <p:spPr>
          <a:xfrm>
            <a:off x="1270000" y="4051024"/>
            <a:ext cx="971296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>
                    <a:lumMod val="95000"/>
                  </a:schemeClr>
                </a:solidFill>
              </a:rPr>
              <a:t>Industry Insight</a:t>
            </a:r>
          </a:p>
          <a:p>
            <a:endParaRPr lang="en-US" sz="2200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Research shows increasing adoption of AI tools in music production, especially among independent creators.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However, most tools either generate full songs or only transcribe audio — very few integrate directly into professional DAWs.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This gap inspired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Empath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99932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969317-46BD-EE31-F617-1DF8EDABA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A4E33F-3513-71D0-DF03-95E49EFBD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"/>
          <a:stretch>
            <a:fillRect/>
          </a:stretch>
        </p:blipFill>
        <p:spPr>
          <a:xfrm>
            <a:off x="775505" y="571260"/>
            <a:ext cx="3356658" cy="797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0639F81-5DE0-7CEF-9C03-34618657D9D8}"/>
              </a:ext>
            </a:extLst>
          </p:cNvPr>
          <p:cNvSpPr/>
          <p:nvPr/>
        </p:nvSpPr>
        <p:spPr>
          <a:xfrm>
            <a:off x="-411480" y="-14724"/>
            <a:ext cx="13350240" cy="369332"/>
          </a:xfrm>
          <a:prstGeom prst="rect">
            <a:avLst/>
          </a:prstGeom>
          <a:solidFill>
            <a:srgbClr val="223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EEDC741-2F9C-4CAE-4517-F6D645F5F83E}"/>
              </a:ext>
            </a:extLst>
          </p:cNvPr>
          <p:cNvSpPr/>
          <p:nvPr/>
        </p:nvSpPr>
        <p:spPr>
          <a:xfrm>
            <a:off x="960231" y="3003741"/>
            <a:ext cx="10251216" cy="59907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56EAA-268D-EAF8-811D-23FF27119DED}"/>
              </a:ext>
            </a:extLst>
          </p:cNvPr>
          <p:cNvSpPr txBox="1"/>
          <p:nvPr/>
        </p:nvSpPr>
        <p:spPr>
          <a:xfrm>
            <a:off x="2664460" y="3026277"/>
            <a:ext cx="71780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5"/>
                </a:solidFill>
                <a:latin typeface="Avenir Next LT Pro Light" panose="020B0304020202020204" pitchFamily="34" charset="0"/>
              </a:rPr>
              <a:t>THANK  YOU!!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184133-F9B9-EEEA-61ED-157EA57D956C}"/>
              </a:ext>
            </a:extLst>
          </p:cNvPr>
          <p:cNvSpPr/>
          <p:nvPr/>
        </p:nvSpPr>
        <p:spPr>
          <a:xfrm>
            <a:off x="7741920" y="-2125464"/>
            <a:ext cx="4831080" cy="4221480"/>
          </a:xfrm>
          <a:prstGeom prst="ellipse">
            <a:avLst/>
          </a:prstGeom>
          <a:solidFill>
            <a:schemeClr val="accent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A8B848E-7D17-30F9-5357-495013E9B4E8}"/>
              </a:ext>
            </a:extLst>
          </p:cNvPr>
          <p:cNvSpPr/>
          <p:nvPr/>
        </p:nvSpPr>
        <p:spPr>
          <a:xfrm>
            <a:off x="10706100" y="-876540"/>
            <a:ext cx="3314700" cy="3101580"/>
          </a:xfrm>
          <a:prstGeom prst="ellipse">
            <a:avLst/>
          </a:prstGeom>
          <a:solidFill>
            <a:schemeClr val="accent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6CE03D-7BD3-B772-8D90-06962DE15F4C}"/>
              </a:ext>
            </a:extLst>
          </p:cNvPr>
          <p:cNvSpPr/>
          <p:nvPr/>
        </p:nvSpPr>
        <p:spPr>
          <a:xfrm>
            <a:off x="10157460" y="4935133"/>
            <a:ext cx="3314700" cy="3101580"/>
          </a:xfrm>
          <a:prstGeom prst="ellipse">
            <a:avLst/>
          </a:prstGeom>
          <a:solidFill>
            <a:schemeClr val="accent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3CB427A-32F2-86EC-6042-3508DAAED7D4}"/>
              </a:ext>
            </a:extLst>
          </p:cNvPr>
          <p:cNvSpPr/>
          <p:nvPr/>
        </p:nvSpPr>
        <p:spPr>
          <a:xfrm>
            <a:off x="8107680" y="5677416"/>
            <a:ext cx="4831080" cy="4221480"/>
          </a:xfrm>
          <a:prstGeom prst="ellipse">
            <a:avLst/>
          </a:prstGeom>
          <a:solidFill>
            <a:schemeClr val="accent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9D842D-C848-25C9-6479-29EB514A7CB5}"/>
              </a:ext>
            </a:extLst>
          </p:cNvPr>
          <p:cNvSpPr/>
          <p:nvPr/>
        </p:nvSpPr>
        <p:spPr>
          <a:xfrm>
            <a:off x="-2284793" y="-2421699"/>
            <a:ext cx="5389075" cy="5036089"/>
          </a:xfrm>
          <a:prstGeom prst="ellipse">
            <a:avLst/>
          </a:prstGeom>
          <a:solidFill>
            <a:schemeClr val="accent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2A58C3-1517-2ED5-F70A-66EFC7A92607}"/>
              </a:ext>
            </a:extLst>
          </p:cNvPr>
          <p:cNvSpPr/>
          <p:nvPr/>
        </p:nvSpPr>
        <p:spPr>
          <a:xfrm>
            <a:off x="-1820778" y="970037"/>
            <a:ext cx="2801331" cy="2552078"/>
          </a:xfrm>
          <a:prstGeom prst="ellipse">
            <a:avLst/>
          </a:prstGeom>
          <a:solidFill>
            <a:schemeClr val="accent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130F7FF-A50C-8968-A4FB-CFA9D4D93259}"/>
              </a:ext>
            </a:extLst>
          </p:cNvPr>
          <p:cNvSpPr/>
          <p:nvPr/>
        </p:nvSpPr>
        <p:spPr>
          <a:xfrm>
            <a:off x="-2827020" y="4429840"/>
            <a:ext cx="4831080" cy="4221480"/>
          </a:xfrm>
          <a:prstGeom prst="ellipse">
            <a:avLst/>
          </a:prstGeom>
          <a:solidFill>
            <a:schemeClr val="accent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1FDDD61-505B-D4D7-74A9-768F3FC22B27}"/>
              </a:ext>
            </a:extLst>
          </p:cNvPr>
          <p:cNvSpPr/>
          <p:nvPr/>
        </p:nvSpPr>
        <p:spPr>
          <a:xfrm>
            <a:off x="713740" y="5727792"/>
            <a:ext cx="2580640" cy="2372117"/>
          </a:xfrm>
          <a:prstGeom prst="ellipse">
            <a:avLst/>
          </a:prstGeom>
          <a:solidFill>
            <a:schemeClr val="accent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68F63EE-1E7A-5BC3-5F16-6722439F0BF8}"/>
              </a:ext>
            </a:extLst>
          </p:cNvPr>
          <p:cNvSpPr/>
          <p:nvPr/>
        </p:nvSpPr>
        <p:spPr>
          <a:xfrm>
            <a:off x="9443607" y="4831397"/>
            <a:ext cx="713853" cy="599070"/>
          </a:xfrm>
          <a:prstGeom prst="ellipse">
            <a:avLst/>
          </a:prstGeom>
          <a:solidFill>
            <a:schemeClr val="accent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53829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1853</Words>
  <Application>Microsoft Office PowerPoint</Application>
  <PresentationFormat>Widescreen</PresentationFormat>
  <Paragraphs>402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Arial Black</vt:lpstr>
      <vt:lpstr>Avenir Next LT Pro Light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Chetna Manral</dc:creator>
  <cp:lastModifiedBy>Chetna Manral</cp:lastModifiedBy>
  <cp:revision>6</cp:revision>
  <dcterms:created xsi:type="dcterms:W3CDTF">2026-02-18T05:22:17Z</dcterms:created>
  <dcterms:modified xsi:type="dcterms:W3CDTF">2026-02-18T19:05:31Z</dcterms:modified>
</cp:coreProperties>
</file>